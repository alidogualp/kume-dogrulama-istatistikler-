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embeddedFontLst>
    <p:embeddedFont>
      <p:font typeface="Roboto Thin"/>
      <p:regular r:id="rId35"/>
      <p:bold r:id="rId36"/>
      <p:italic r:id="rId37"/>
      <p:boldItalic r:id="rId38"/>
    </p:embeddedFont>
    <p:embeddedFont>
      <p:font typeface="Roboto Medium"/>
      <p:regular r:id="rId39"/>
      <p:bold r:id="rId40"/>
      <p:italic r:id="rId41"/>
      <p:boldItalic r:id="rId42"/>
    </p:embeddedFont>
    <p:embeddedFont>
      <p:font typeface="Roboto"/>
      <p:regular r:id="rId43"/>
      <p:bold r:id="rId44"/>
      <p:italic r:id="rId45"/>
      <p:boldItalic r:id="rId46"/>
    </p:embeddedFont>
    <p:embeddedFont>
      <p:font typeface="Montserrat"/>
      <p:regular r:id="rId47"/>
      <p:bold r:id="rId48"/>
      <p:italic r:id="rId49"/>
      <p:boldItalic r:id="rId50"/>
    </p:embeddedFont>
    <p:embeddedFont>
      <p:font typeface="Lato"/>
      <p:regular r:id="rId51"/>
      <p:bold r:id="rId52"/>
      <p:italic r:id="rId53"/>
      <p:boldItalic r:id="rId54"/>
    </p:embeddedFont>
    <p:embeddedFont>
      <p:font typeface="Montserrat Medium"/>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301936C-C008-4865-88B6-35F832D9229E}">
  <a:tblStyle styleId="{B301936C-C008-4865-88B6-35F832D9229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edium-bold.fntdata"/><Relationship Id="rId42" Type="http://schemas.openxmlformats.org/officeDocument/2006/relationships/font" Target="fonts/RobotoMedium-boldItalic.fntdata"/><Relationship Id="rId41" Type="http://schemas.openxmlformats.org/officeDocument/2006/relationships/font" Target="fonts/RobotoMedium-italic.fntdata"/><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Montserrat-bold.fntdata"/><Relationship Id="rId47" Type="http://schemas.openxmlformats.org/officeDocument/2006/relationships/font" Target="fonts/Montserrat-regular.fntdata"/><Relationship Id="rId49" Type="http://schemas.openxmlformats.org/officeDocument/2006/relationships/font" Target="fonts/Montserrat-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font" Target="fonts/RobotoThin-regular.fntdata"/><Relationship Id="rId34" Type="http://schemas.openxmlformats.org/officeDocument/2006/relationships/slide" Target="slides/slide28.xml"/><Relationship Id="rId37" Type="http://schemas.openxmlformats.org/officeDocument/2006/relationships/font" Target="fonts/RobotoThin-italic.fntdata"/><Relationship Id="rId36" Type="http://schemas.openxmlformats.org/officeDocument/2006/relationships/font" Target="fonts/RobotoThin-bold.fntdata"/><Relationship Id="rId39" Type="http://schemas.openxmlformats.org/officeDocument/2006/relationships/font" Target="fonts/RobotoMedium-regular.fntdata"/><Relationship Id="rId38" Type="http://schemas.openxmlformats.org/officeDocument/2006/relationships/font" Target="fonts/RobotoThin-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Lato-regular.fntdata"/><Relationship Id="rId50" Type="http://schemas.openxmlformats.org/officeDocument/2006/relationships/font" Target="fonts/Montserrat-boldItalic.fntdata"/><Relationship Id="rId53" Type="http://schemas.openxmlformats.org/officeDocument/2006/relationships/font" Target="fonts/Lato-italic.fntdata"/><Relationship Id="rId52" Type="http://schemas.openxmlformats.org/officeDocument/2006/relationships/font" Target="fonts/Lato-bold.fntdata"/><Relationship Id="rId11" Type="http://schemas.openxmlformats.org/officeDocument/2006/relationships/slide" Target="slides/slide5.xml"/><Relationship Id="rId55" Type="http://schemas.openxmlformats.org/officeDocument/2006/relationships/font" Target="fonts/MontserratMedium-regular.fntdata"/><Relationship Id="rId10" Type="http://schemas.openxmlformats.org/officeDocument/2006/relationships/slide" Target="slides/slide4.xml"/><Relationship Id="rId54" Type="http://schemas.openxmlformats.org/officeDocument/2006/relationships/font" Target="fonts/Lato-boldItalic.fntdata"/><Relationship Id="rId13" Type="http://schemas.openxmlformats.org/officeDocument/2006/relationships/slide" Target="slides/slide7.xml"/><Relationship Id="rId57" Type="http://schemas.openxmlformats.org/officeDocument/2006/relationships/font" Target="fonts/MontserratMedium-italic.fntdata"/><Relationship Id="rId12" Type="http://schemas.openxmlformats.org/officeDocument/2006/relationships/slide" Target="slides/slide6.xml"/><Relationship Id="rId56" Type="http://schemas.openxmlformats.org/officeDocument/2006/relationships/font" Target="fonts/MontserratMedium-bold.fntdata"/><Relationship Id="rId15" Type="http://schemas.openxmlformats.org/officeDocument/2006/relationships/slide" Target="slides/slide9.xml"/><Relationship Id="rId14" Type="http://schemas.openxmlformats.org/officeDocument/2006/relationships/slide" Target="slides/slide8.xml"/><Relationship Id="rId58" Type="http://schemas.openxmlformats.org/officeDocument/2006/relationships/font" Target="fonts/MontserratMedium-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14ea46b82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b14ea46b82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b14ea46b82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b14ea46b82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b158c2a337_2_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b158c2a337_2_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b158c2a337_2_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b158c2a337_2_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b14ea46b82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b14ea46b82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b18e220ed7_1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b18e220ed7_1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b14ea46b82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b14ea46b82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b18e220ed7_1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b18e220ed7_1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b158c2a337_2_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b158c2a337_2_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b1aa83233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b1aa83233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b1aa83233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b1aa83233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b14ea46b82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b14ea46b82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b158c2a337_2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b158c2a337_2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b1aa83233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b1aa83233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b1930b7f8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b1930b7f8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b1930b7f8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b1930b7f8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b14ea46b82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b14ea46b82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b1aa832337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b1aa832337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b158c2a337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b158c2a337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b172c3f79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b172c3f79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b172c3f79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b172c3f79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b1aa832337_3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b1aa832337_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b1aa832337_3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b1aa832337_3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b1aa832337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b1aa832337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b1aa832337_3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b1aa832337_3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b1aa832337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b1aa832337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b158c2a337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b158c2a337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21.png"/><Relationship Id="rId5" Type="http://schemas.openxmlformats.org/officeDocument/2006/relationships/image" Target="../media/image15.png"/><Relationship Id="rId6"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3.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3.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online.deu.edu.tr/access/content/group/4c6e7732-0a68-42f8-8724-d33d84b4e4d4/Ders%20%C4%B0%C3%A7erikleri/_Multivariate%20Analysis%201_%20Alboukadel%20Kassambara-Practical%20Guide%20to%20Cluster%20Analysis%20in%20R.%20Unsupervised%20Machine%20Learning-STHDA%20_2017_.pdf" TargetMode="External"/><Relationship Id="rId4" Type="http://schemas.openxmlformats.org/officeDocument/2006/relationships/hyperlink" Target="https://hastie.su.domains/Papers/gap.pdf" TargetMode="External"/><Relationship Id="rId5" Type="http://schemas.openxmlformats.org/officeDocument/2006/relationships/hyperlink" Target="https://towardsdatascience.com/calinski-harabasz-index-for-k-means-clustering-evaluation-using-python-4fefeeb2988e/" TargetMode="External"/><Relationship Id="rId6" Type="http://schemas.openxmlformats.org/officeDocument/2006/relationships/hyperlink" Target="https://towardsdatascience.com/calinski-harabasz-index-for-k-means-clustering-evaluation-using-python-4fefeeb2988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725875"/>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tr"/>
              <a:t>Küme Doğrulama</a:t>
            </a:r>
            <a:endParaRPr b="1"/>
          </a:p>
          <a:p>
            <a:pPr indent="0" lvl="0" marL="0" rtl="0" algn="l">
              <a:spcBef>
                <a:spcPts val="0"/>
              </a:spcBef>
              <a:spcAft>
                <a:spcPts val="0"/>
              </a:spcAft>
              <a:buNone/>
            </a:pPr>
            <a:r>
              <a:rPr b="1" lang="tr"/>
              <a:t>İstatistikleri</a:t>
            </a:r>
            <a:endParaRPr b="1"/>
          </a:p>
        </p:txBody>
      </p:sp>
      <p:sp>
        <p:nvSpPr>
          <p:cNvPr id="135" name="Google Shape;135;p13"/>
          <p:cNvSpPr txBox="1"/>
          <p:nvPr>
            <p:ph idx="1" type="subTitle"/>
          </p:nvPr>
        </p:nvSpPr>
        <p:spPr>
          <a:xfrm>
            <a:off x="4688875" y="2846325"/>
            <a:ext cx="3728400" cy="164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tr" sz="2000"/>
              <a:t>Hazırlayanlar:</a:t>
            </a:r>
            <a:endParaRPr b="1" sz="2000"/>
          </a:p>
          <a:p>
            <a:pPr indent="0" lvl="0" marL="0" rtl="0" algn="l">
              <a:spcBef>
                <a:spcPts val="0"/>
              </a:spcBef>
              <a:spcAft>
                <a:spcPts val="0"/>
              </a:spcAft>
              <a:buNone/>
            </a:pPr>
            <a:r>
              <a:rPr lang="tr" sz="2000"/>
              <a:t>Aslı Eylül Ülgen</a:t>
            </a:r>
            <a:endParaRPr sz="2000"/>
          </a:p>
          <a:p>
            <a:pPr indent="0" lvl="0" marL="0" rtl="0" algn="l">
              <a:spcBef>
                <a:spcPts val="0"/>
              </a:spcBef>
              <a:spcAft>
                <a:spcPts val="0"/>
              </a:spcAft>
              <a:buNone/>
            </a:pPr>
            <a:r>
              <a:rPr lang="tr" sz="2000"/>
              <a:t>Ali Doğualp </a:t>
            </a:r>
            <a:endParaRPr sz="2000"/>
          </a:p>
          <a:p>
            <a:pPr indent="0" lvl="0" marL="0" rtl="0" algn="l">
              <a:spcBef>
                <a:spcPts val="0"/>
              </a:spcBef>
              <a:spcAft>
                <a:spcPts val="0"/>
              </a:spcAft>
              <a:buNone/>
            </a:pPr>
            <a:r>
              <a:rPr lang="tr" sz="2000"/>
              <a:t>Yasin Dişikara</a:t>
            </a:r>
            <a:endParaRPr sz="2000"/>
          </a:p>
          <a:p>
            <a:pPr indent="0" lvl="0" marL="0" rtl="0" algn="l">
              <a:spcBef>
                <a:spcPts val="0"/>
              </a:spcBef>
              <a:spcAft>
                <a:spcPts val="0"/>
              </a:spcAft>
              <a:buNone/>
            </a:pPr>
            <a:r>
              <a:rPr lang="tr" sz="2000"/>
              <a:t>Berkay Özkasap</a:t>
            </a:r>
            <a:endParaRPr sz="2000"/>
          </a:p>
          <a:p>
            <a:pPr indent="0" lvl="0" marL="0" rtl="0" algn="l">
              <a:spcBef>
                <a:spcPts val="0"/>
              </a:spcBef>
              <a:spcAft>
                <a:spcPts val="0"/>
              </a:spcAft>
              <a:buNone/>
            </a:pPr>
            <a:r>
              <a:t/>
            </a:r>
            <a:endParaRPr sz="1800"/>
          </a:p>
        </p:txBody>
      </p:sp>
      <p:pic>
        <p:nvPicPr>
          <p:cNvPr id="136" name="Google Shape;136;p13"/>
          <p:cNvPicPr preferRelativeResize="0"/>
          <p:nvPr/>
        </p:nvPicPr>
        <p:blipFill rotWithShape="1">
          <a:blip r:embed="rId3">
            <a:alphaModFix/>
          </a:blip>
          <a:srcRect b="0" l="0" r="0" t="0"/>
          <a:stretch/>
        </p:blipFill>
        <p:spPr>
          <a:xfrm>
            <a:off x="420700" y="2571750"/>
            <a:ext cx="2685890" cy="2512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tr" sz="3000"/>
              <a:t>                       </a:t>
            </a:r>
            <a:r>
              <a:rPr b="1" i="1" lang="tr" sz="3000"/>
              <a:t>İÇERİK</a:t>
            </a:r>
            <a:endParaRPr b="1" i="1" sz="3000"/>
          </a:p>
        </p:txBody>
      </p:sp>
      <p:sp>
        <p:nvSpPr>
          <p:cNvPr id="142" name="Google Shape;142;p14"/>
          <p:cNvSpPr txBox="1"/>
          <p:nvPr>
            <p:ph idx="1" type="body"/>
          </p:nvPr>
        </p:nvSpPr>
        <p:spPr>
          <a:xfrm>
            <a:off x="1297500" y="1210025"/>
            <a:ext cx="7038900" cy="3399600"/>
          </a:xfrm>
          <a:prstGeom prst="rect">
            <a:avLst/>
          </a:prstGeom>
        </p:spPr>
        <p:txBody>
          <a:bodyPr anchorCtr="0" anchor="t" bIns="91425" lIns="91425" spcFirstLastPara="1" rIns="91425" wrap="square" tIns="91425">
            <a:normAutofit/>
          </a:bodyPr>
          <a:lstStyle/>
          <a:p>
            <a:pPr indent="-355600" lvl="0" marL="457200" rtl="0" algn="l">
              <a:lnSpc>
                <a:spcPct val="95000"/>
              </a:lnSpc>
              <a:spcBef>
                <a:spcPts val="0"/>
              </a:spcBef>
              <a:spcAft>
                <a:spcPts val="0"/>
              </a:spcAft>
              <a:buSzPts val="2000"/>
              <a:buChar char="●"/>
            </a:pPr>
            <a:r>
              <a:rPr lang="tr" sz="2000"/>
              <a:t>Küme Doğrulama İstatistikleri Nedir?</a:t>
            </a:r>
            <a:endParaRPr sz="2000"/>
          </a:p>
          <a:p>
            <a:pPr indent="-355600" lvl="0" marL="457200" rtl="0" algn="l">
              <a:lnSpc>
                <a:spcPct val="95000"/>
              </a:lnSpc>
              <a:spcBef>
                <a:spcPts val="0"/>
              </a:spcBef>
              <a:spcAft>
                <a:spcPts val="0"/>
              </a:spcAft>
              <a:buSzPts val="2000"/>
              <a:buChar char="●"/>
            </a:pPr>
            <a:r>
              <a:rPr lang="tr" sz="2000"/>
              <a:t>Internal Cluster Validation</a:t>
            </a:r>
            <a:endParaRPr sz="2000"/>
          </a:p>
          <a:p>
            <a:pPr indent="0" lvl="0" marL="457200" rtl="0" algn="l">
              <a:lnSpc>
                <a:spcPct val="95000"/>
              </a:lnSpc>
              <a:spcBef>
                <a:spcPts val="1200"/>
              </a:spcBef>
              <a:spcAft>
                <a:spcPts val="0"/>
              </a:spcAft>
              <a:buNone/>
            </a:pPr>
            <a:r>
              <a:rPr lang="tr" sz="2000"/>
              <a:t>-Küme İçi Yoğunluk, Ayrışma, Bağlantılılık</a:t>
            </a:r>
            <a:endParaRPr sz="2000"/>
          </a:p>
          <a:p>
            <a:pPr indent="-355600" lvl="0" marL="457200" rtl="0" algn="l">
              <a:lnSpc>
                <a:spcPct val="95000"/>
              </a:lnSpc>
              <a:spcBef>
                <a:spcPts val="1200"/>
              </a:spcBef>
              <a:spcAft>
                <a:spcPts val="0"/>
              </a:spcAft>
              <a:buSzPts val="2000"/>
              <a:buChar char="●"/>
            </a:pPr>
            <a:r>
              <a:rPr lang="tr" sz="2000"/>
              <a:t>Silüet Katsayısı</a:t>
            </a:r>
            <a:endParaRPr sz="2000"/>
          </a:p>
          <a:p>
            <a:pPr indent="-355600" lvl="0" marL="457200" rtl="0" algn="l">
              <a:lnSpc>
                <a:spcPct val="95000"/>
              </a:lnSpc>
              <a:spcBef>
                <a:spcPts val="0"/>
              </a:spcBef>
              <a:spcAft>
                <a:spcPts val="0"/>
              </a:spcAft>
              <a:buSzPts val="2000"/>
              <a:buChar char="●"/>
            </a:pPr>
            <a:r>
              <a:rPr lang="tr" sz="2000"/>
              <a:t>Dunn Endeksi</a:t>
            </a:r>
            <a:endParaRPr sz="2000"/>
          </a:p>
          <a:p>
            <a:pPr indent="-355600" lvl="0" marL="457200" rtl="0" algn="l">
              <a:lnSpc>
                <a:spcPct val="95000"/>
              </a:lnSpc>
              <a:spcBef>
                <a:spcPts val="0"/>
              </a:spcBef>
              <a:spcAft>
                <a:spcPts val="0"/>
              </a:spcAft>
              <a:buSzPts val="2000"/>
              <a:buChar char="●"/>
            </a:pPr>
            <a:r>
              <a:rPr lang="tr" sz="2000"/>
              <a:t>External Cluster Validation</a:t>
            </a:r>
            <a:endParaRPr sz="2000"/>
          </a:p>
          <a:p>
            <a:pPr indent="-355600" lvl="0" marL="457200" rtl="0" algn="l">
              <a:lnSpc>
                <a:spcPct val="95000"/>
              </a:lnSpc>
              <a:spcBef>
                <a:spcPts val="0"/>
              </a:spcBef>
              <a:spcAft>
                <a:spcPts val="0"/>
              </a:spcAft>
              <a:buSzPts val="2000"/>
              <a:buChar char="●"/>
            </a:pPr>
            <a:r>
              <a:rPr lang="tr" sz="2000"/>
              <a:t>Relative Cluster Validation</a:t>
            </a:r>
            <a:endParaRPr sz="2000"/>
          </a:p>
          <a:p>
            <a:pPr indent="-355600" lvl="0" marL="457200" rtl="0" algn="l">
              <a:lnSpc>
                <a:spcPct val="95000"/>
              </a:lnSpc>
              <a:spcBef>
                <a:spcPts val="0"/>
              </a:spcBef>
              <a:spcAft>
                <a:spcPts val="0"/>
              </a:spcAft>
              <a:buSzPts val="2000"/>
              <a:buChar char="●"/>
            </a:pPr>
            <a:r>
              <a:rPr lang="tr" sz="2000"/>
              <a:t>R uygulamaları ile karşılaştırma</a:t>
            </a:r>
            <a:endParaRPr sz="2000"/>
          </a:p>
          <a:p>
            <a:pPr indent="-355600" lvl="0" marL="457200" rtl="0" algn="l">
              <a:lnSpc>
                <a:spcPct val="95000"/>
              </a:lnSpc>
              <a:spcBef>
                <a:spcPts val="0"/>
              </a:spcBef>
              <a:spcAft>
                <a:spcPts val="0"/>
              </a:spcAft>
              <a:buSzPts val="2000"/>
              <a:buChar char="●"/>
            </a:pPr>
            <a:r>
              <a:rPr lang="tr" sz="2000"/>
              <a:t>Kaynakça</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045025" y="393750"/>
            <a:ext cx="72915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r" sz="3000"/>
              <a:t>Küme Doğrulama İstatistikleri Nedir?</a:t>
            </a:r>
            <a:endParaRPr sz="3000"/>
          </a:p>
        </p:txBody>
      </p:sp>
      <p:sp>
        <p:nvSpPr>
          <p:cNvPr id="148" name="Google Shape;148;p15"/>
          <p:cNvSpPr txBox="1"/>
          <p:nvPr>
            <p:ph idx="1" type="body"/>
          </p:nvPr>
        </p:nvSpPr>
        <p:spPr>
          <a:xfrm>
            <a:off x="1171325"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tr" sz="1600">
                <a:highlight>
                  <a:schemeClr val="dk1"/>
                </a:highlight>
              </a:rPr>
              <a:t>  </a:t>
            </a:r>
            <a:r>
              <a:rPr b="1" lang="tr" sz="2000">
                <a:highlight>
                  <a:schemeClr val="dk1"/>
                </a:highlight>
              </a:rPr>
              <a:t>Kümeleme doğrulama</a:t>
            </a:r>
            <a:r>
              <a:rPr lang="tr" sz="2000">
                <a:highlight>
                  <a:schemeClr val="dk1"/>
                </a:highlight>
              </a:rPr>
              <a:t> terimi, kümeleme algoritması sonuçlarının doğruluğunu değerlendirme prosedürünü tasarlamak için kullanılır. Bu, rastgele verilerde kalıplar bulmaktan kaçınmak için olduğu kadar, iki kümeleme algoritmasını karşılaştırmak istediğiniz durumlarda da önemlidir.</a:t>
            </a:r>
            <a:endParaRPr sz="2000">
              <a:highlight>
                <a:schemeClr val="dk1"/>
              </a:highlight>
            </a:endParaRPr>
          </a:p>
          <a:p>
            <a:pPr indent="0" lvl="0" marL="0" rtl="0" algn="l">
              <a:spcBef>
                <a:spcPts val="1200"/>
              </a:spcBef>
              <a:spcAft>
                <a:spcPts val="1200"/>
              </a:spcAft>
              <a:buNone/>
            </a:pPr>
            <a:r>
              <a:rPr lang="tr" sz="2000">
                <a:highlight>
                  <a:schemeClr val="dk1"/>
                </a:highlight>
              </a:rPr>
              <a:t> </a:t>
            </a:r>
            <a:endParaRPr sz="2000">
              <a:highlight>
                <a:schemeClr val="dk1"/>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idx="1" type="body"/>
          </p:nvPr>
        </p:nvSpPr>
        <p:spPr>
          <a:xfrm>
            <a:off x="990150" y="486625"/>
            <a:ext cx="7528500" cy="39630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None/>
            </a:pPr>
            <a:r>
              <a:t/>
            </a:r>
            <a:endParaRPr b="1" sz="1400">
              <a:latin typeface="Montserrat"/>
              <a:ea typeface="Montserrat"/>
              <a:cs typeface="Montserrat"/>
              <a:sym typeface="Montserrat"/>
            </a:endParaRPr>
          </a:p>
          <a:p>
            <a:pPr indent="0" lvl="0" marL="0" rtl="0" algn="l">
              <a:spcBef>
                <a:spcPts val="1200"/>
              </a:spcBef>
              <a:spcAft>
                <a:spcPts val="0"/>
              </a:spcAft>
              <a:buNone/>
            </a:pPr>
            <a:r>
              <a:rPr lang="tr" sz="1400">
                <a:latin typeface="Montserrat"/>
                <a:ea typeface="Montserrat"/>
                <a:cs typeface="Montserrat"/>
                <a:sym typeface="Montserrat"/>
              </a:rPr>
              <a:t>Cluster validation, elde edilen kümelerin:</a:t>
            </a:r>
            <a:endParaRPr sz="1400">
              <a:latin typeface="Montserrat"/>
              <a:ea typeface="Montserrat"/>
              <a:cs typeface="Montserrat"/>
              <a:sym typeface="Montserrat"/>
            </a:endParaRPr>
          </a:p>
          <a:p>
            <a:pPr indent="-317500" lvl="0" marL="457200" rtl="0" algn="l">
              <a:spcBef>
                <a:spcPts val="1200"/>
              </a:spcBef>
              <a:spcAft>
                <a:spcPts val="0"/>
              </a:spcAft>
              <a:buClr>
                <a:schemeClr val="lt1"/>
              </a:buClr>
              <a:buSzPts val="1400"/>
              <a:buFont typeface="Montserrat"/>
              <a:buChar char="●"/>
            </a:pPr>
            <a:r>
              <a:rPr b="1" lang="tr" sz="1400">
                <a:latin typeface="Montserrat"/>
                <a:ea typeface="Montserrat"/>
                <a:cs typeface="Montserrat"/>
                <a:sym typeface="Montserrat"/>
              </a:rPr>
              <a:t>Anlamlı mı?</a:t>
            </a:r>
            <a:br>
              <a:rPr lang="tr" sz="1400">
                <a:latin typeface="Montserrat"/>
                <a:ea typeface="Montserrat"/>
                <a:cs typeface="Montserrat"/>
                <a:sym typeface="Montserrat"/>
              </a:rPr>
            </a:br>
            <a:endParaRPr sz="1400">
              <a:latin typeface="Montserrat"/>
              <a:ea typeface="Montserrat"/>
              <a:cs typeface="Montserrat"/>
              <a:sym typeface="Montserrat"/>
            </a:endParaRPr>
          </a:p>
          <a:p>
            <a:pPr indent="-317500" lvl="0" marL="457200" rtl="0" algn="l">
              <a:spcBef>
                <a:spcPts val="0"/>
              </a:spcBef>
              <a:spcAft>
                <a:spcPts val="0"/>
              </a:spcAft>
              <a:buClr>
                <a:schemeClr val="lt1"/>
              </a:buClr>
              <a:buSzPts val="1400"/>
              <a:buFont typeface="Montserrat"/>
              <a:buChar char="●"/>
            </a:pPr>
            <a:r>
              <a:rPr b="1" lang="tr" sz="1400">
                <a:latin typeface="Montserrat"/>
                <a:ea typeface="Montserrat"/>
                <a:cs typeface="Montserrat"/>
                <a:sym typeface="Montserrat"/>
              </a:rPr>
              <a:t>Birbirinden yeterince farklı mı?</a:t>
            </a:r>
            <a:br>
              <a:rPr lang="tr" sz="1400">
                <a:latin typeface="Montserrat"/>
                <a:ea typeface="Montserrat"/>
                <a:cs typeface="Montserrat"/>
                <a:sym typeface="Montserrat"/>
              </a:rPr>
            </a:br>
            <a:endParaRPr sz="1400">
              <a:latin typeface="Montserrat"/>
              <a:ea typeface="Montserrat"/>
              <a:cs typeface="Montserrat"/>
              <a:sym typeface="Montserrat"/>
            </a:endParaRPr>
          </a:p>
          <a:p>
            <a:pPr indent="-317500" lvl="0" marL="457200" rtl="0" algn="l">
              <a:spcBef>
                <a:spcPts val="0"/>
              </a:spcBef>
              <a:spcAft>
                <a:spcPts val="0"/>
              </a:spcAft>
              <a:buClr>
                <a:schemeClr val="lt1"/>
              </a:buClr>
              <a:buSzPts val="1400"/>
              <a:buFont typeface="Montserrat"/>
              <a:buChar char="●"/>
            </a:pPr>
            <a:r>
              <a:rPr b="1" lang="tr" sz="1400">
                <a:latin typeface="Montserrat"/>
                <a:ea typeface="Montserrat"/>
                <a:cs typeface="Montserrat"/>
                <a:sym typeface="Montserrat"/>
              </a:rPr>
              <a:t>Kendi içinde homojen mi?</a:t>
            </a:r>
            <a:br>
              <a:rPr lang="tr" sz="1400">
                <a:latin typeface="Montserrat"/>
                <a:ea typeface="Montserrat"/>
                <a:cs typeface="Montserrat"/>
                <a:sym typeface="Montserrat"/>
              </a:rPr>
            </a:br>
            <a:endParaRPr sz="1400">
              <a:latin typeface="Montserrat"/>
              <a:ea typeface="Montserrat"/>
              <a:cs typeface="Montserrat"/>
              <a:sym typeface="Montserrat"/>
            </a:endParaRPr>
          </a:p>
          <a:p>
            <a:pPr indent="-317500" lvl="0" marL="457200" rtl="0" algn="l">
              <a:spcBef>
                <a:spcPts val="0"/>
              </a:spcBef>
              <a:spcAft>
                <a:spcPts val="0"/>
              </a:spcAft>
              <a:buClr>
                <a:schemeClr val="lt1"/>
              </a:buClr>
              <a:buSzPts val="1400"/>
              <a:buFont typeface="Montserrat"/>
              <a:buChar char="●"/>
            </a:pPr>
            <a:r>
              <a:rPr b="1" lang="tr" sz="1400">
                <a:latin typeface="Montserrat"/>
                <a:ea typeface="Montserrat"/>
                <a:cs typeface="Montserrat"/>
                <a:sym typeface="Montserrat"/>
              </a:rPr>
              <a:t>Küme sayısı doğru mu?</a:t>
            </a:r>
            <a:br>
              <a:rPr lang="tr" sz="1400">
                <a:latin typeface="Montserrat"/>
                <a:ea typeface="Montserrat"/>
                <a:cs typeface="Montserrat"/>
                <a:sym typeface="Montserrat"/>
              </a:rPr>
            </a:br>
            <a:endParaRPr sz="1400">
              <a:latin typeface="Montserrat"/>
              <a:ea typeface="Montserrat"/>
              <a:cs typeface="Montserrat"/>
              <a:sym typeface="Montserrat"/>
            </a:endParaRPr>
          </a:p>
          <a:p>
            <a:pPr indent="0" lvl="0" marL="0" rtl="0" algn="l">
              <a:spcBef>
                <a:spcPts val="1200"/>
              </a:spcBef>
              <a:spcAft>
                <a:spcPts val="0"/>
              </a:spcAft>
              <a:buNone/>
            </a:pPr>
            <a:r>
              <a:rPr lang="tr" sz="1400">
                <a:latin typeface="Montserrat"/>
                <a:ea typeface="Montserrat"/>
                <a:cs typeface="Montserrat"/>
                <a:sym typeface="Montserrat"/>
              </a:rPr>
              <a:t>sorularına cevap vermek için kullanılan yöntemlerdir.</a:t>
            </a:r>
            <a:endParaRPr sz="1400">
              <a:latin typeface="Montserrat"/>
              <a:ea typeface="Montserrat"/>
              <a:cs typeface="Montserrat"/>
              <a:sym typeface="Montserrat"/>
            </a:endParaRPr>
          </a:p>
          <a:p>
            <a:pPr indent="0" lvl="0" marL="0" rtl="0" algn="l">
              <a:spcBef>
                <a:spcPts val="1200"/>
              </a:spcBef>
              <a:spcAft>
                <a:spcPts val="0"/>
              </a:spcAft>
              <a:buNone/>
            </a:pPr>
            <a:r>
              <a:rPr lang="tr" sz="1400">
                <a:highlight>
                  <a:schemeClr val="dk1"/>
                </a:highlight>
                <a:latin typeface="Montserrat"/>
                <a:ea typeface="Montserrat"/>
                <a:cs typeface="Montserrat"/>
                <a:sym typeface="Montserrat"/>
              </a:rPr>
              <a:t>Genel olarak küme doğrulama sistemleri 3 ana gruba ayrılarak değerlendirilir.</a:t>
            </a:r>
            <a:endParaRPr sz="1400">
              <a:highlight>
                <a:schemeClr val="dk1"/>
              </a:highlight>
              <a:latin typeface="Montserrat"/>
              <a:ea typeface="Montserrat"/>
              <a:cs typeface="Montserrat"/>
              <a:sym typeface="Montserrat"/>
            </a:endParaRPr>
          </a:p>
          <a:p>
            <a:pPr indent="0" lvl="0" marL="0" rtl="0" algn="l">
              <a:spcBef>
                <a:spcPts val="1200"/>
              </a:spcBef>
              <a:spcAft>
                <a:spcPts val="0"/>
              </a:spcAft>
              <a:buNone/>
            </a:pPr>
            <a:r>
              <a:t/>
            </a:r>
            <a:endParaRPr sz="1400">
              <a:latin typeface="Montserrat"/>
              <a:ea typeface="Montserrat"/>
              <a:cs typeface="Montserrat"/>
              <a:sym typeface="Montserrat"/>
            </a:endParaRPr>
          </a:p>
          <a:p>
            <a:pPr indent="0" lvl="0" marL="0" rtl="0" algn="l">
              <a:spcBef>
                <a:spcPts val="1200"/>
              </a:spcBef>
              <a:spcAft>
                <a:spcPts val="1200"/>
              </a:spcAft>
              <a:buNone/>
            </a:pPr>
            <a:r>
              <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159" name="Google Shape;159;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0" name="Google Shape;160;p17" title="Different-approaches-for-cluster-validation.png"/>
          <p:cNvPicPr preferRelativeResize="0"/>
          <p:nvPr/>
        </p:nvPicPr>
        <p:blipFill>
          <a:blip r:embed="rId3">
            <a:alphaModFix/>
          </a:blip>
          <a:stretch>
            <a:fillRect/>
          </a:stretch>
        </p:blipFill>
        <p:spPr>
          <a:xfrm>
            <a:off x="0" y="0"/>
            <a:ext cx="9084851"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8"/>
          <p:cNvSpPr txBox="1"/>
          <p:nvPr>
            <p:ph type="title"/>
          </p:nvPr>
        </p:nvSpPr>
        <p:spPr>
          <a:xfrm>
            <a:off x="1086275" y="393750"/>
            <a:ext cx="78240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tr"/>
              <a:t>1-İç Küme Doğrulama (Interval Clustering Validation)</a:t>
            </a:r>
            <a:endParaRPr b="1"/>
          </a:p>
        </p:txBody>
      </p:sp>
      <p:sp>
        <p:nvSpPr>
          <p:cNvPr id="166" name="Google Shape;166;p18"/>
          <p:cNvSpPr txBox="1"/>
          <p:nvPr>
            <p:ph idx="1" type="body"/>
          </p:nvPr>
        </p:nvSpPr>
        <p:spPr>
          <a:xfrm>
            <a:off x="713100" y="1390075"/>
            <a:ext cx="7998300" cy="32643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tr" sz="1700">
                <a:latin typeface="Arial"/>
                <a:ea typeface="Arial"/>
                <a:cs typeface="Arial"/>
                <a:sym typeface="Arial"/>
              </a:rPr>
              <a:t> I</a:t>
            </a:r>
            <a:r>
              <a:rPr b="1" lang="tr" sz="1700">
                <a:latin typeface="Montserrat"/>
                <a:ea typeface="Montserrat"/>
                <a:cs typeface="Montserrat"/>
                <a:sym typeface="Montserrat"/>
              </a:rPr>
              <a:t>nternal clustering validation</a:t>
            </a:r>
            <a:r>
              <a:rPr lang="tr" sz="1700">
                <a:latin typeface="Montserrat"/>
                <a:ea typeface="Montserrat"/>
                <a:cs typeface="Montserrat"/>
                <a:sym typeface="Montserrat"/>
              </a:rPr>
              <a:t>, kümeleme analizi sonucunda elde edilen kümelerin kalitesinin, </a:t>
            </a:r>
            <a:r>
              <a:rPr b="1" lang="tr" sz="1700">
                <a:latin typeface="Montserrat"/>
                <a:ea typeface="Montserrat"/>
                <a:cs typeface="Montserrat"/>
                <a:sym typeface="Montserrat"/>
              </a:rPr>
              <a:t>herhangi bir dış referans ya da gerçek sınıf etiketi (ground truth) kullanılmaksızın</a:t>
            </a:r>
            <a:r>
              <a:rPr lang="tr" sz="1700">
                <a:latin typeface="Montserrat"/>
                <a:ea typeface="Montserrat"/>
                <a:cs typeface="Montserrat"/>
                <a:sym typeface="Montserrat"/>
              </a:rPr>
              <a:t>, yalnızca veri setinin </a:t>
            </a:r>
            <a:r>
              <a:rPr b="1" lang="tr" sz="1700">
                <a:latin typeface="Montserrat"/>
                <a:ea typeface="Montserrat"/>
                <a:cs typeface="Montserrat"/>
                <a:sym typeface="Montserrat"/>
              </a:rPr>
              <a:t>içsel yapısına</a:t>
            </a:r>
            <a:r>
              <a:rPr lang="tr" sz="1700">
                <a:latin typeface="Montserrat"/>
                <a:ea typeface="Montserrat"/>
                <a:cs typeface="Montserrat"/>
                <a:sym typeface="Montserrat"/>
              </a:rPr>
              <a:t> dayanarak değerlendirilmesi yaklaşımıdır. </a:t>
            </a:r>
            <a:endParaRPr sz="1700">
              <a:latin typeface="Montserrat"/>
              <a:ea typeface="Montserrat"/>
              <a:cs typeface="Montserrat"/>
              <a:sym typeface="Montserrat"/>
            </a:endParaRPr>
          </a:p>
          <a:p>
            <a:pPr indent="0" lvl="0" marL="0" rtl="0" algn="l">
              <a:spcBef>
                <a:spcPts val="1200"/>
              </a:spcBef>
              <a:spcAft>
                <a:spcPts val="0"/>
              </a:spcAft>
              <a:buNone/>
            </a:pPr>
            <a:r>
              <a:rPr lang="tr" sz="1700">
                <a:latin typeface="Montserrat"/>
                <a:ea typeface="Montserrat"/>
                <a:cs typeface="Montserrat"/>
                <a:sym typeface="Montserrat"/>
              </a:rPr>
              <a:t>  Internal validation yöntemleri, özellikle denetimsiz öğrenme problemlerinde, kümeleme çözümünün anlamlılığını ve yapısal uygunluğunu ölçmek için kullanılır ve çoğu zaman </a:t>
            </a:r>
            <a:r>
              <a:rPr b="1" lang="tr" sz="1700">
                <a:latin typeface="Montserrat"/>
                <a:ea typeface="Montserrat"/>
                <a:cs typeface="Montserrat"/>
                <a:sym typeface="Montserrat"/>
              </a:rPr>
              <a:t>optimal küme sayısının belirlenmesinde</a:t>
            </a:r>
            <a:r>
              <a:rPr lang="tr" sz="1700">
                <a:latin typeface="Montserrat"/>
                <a:ea typeface="Montserrat"/>
                <a:cs typeface="Montserrat"/>
                <a:sym typeface="Montserrat"/>
              </a:rPr>
              <a:t> temel bir rol oynar.</a:t>
            </a:r>
            <a:endParaRPr sz="1700">
              <a:latin typeface="Montserrat"/>
              <a:ea typeface="Montserrat"/>
              <a:cs typeface="Montserrat"/>
              <a:sym typeface="Montserrat"/>
            </a:endParaRPr>
          </a:p>
          <a:p>
            <a:pPr indent="0" lvl="0" marL="0" rtl="0" algn="l">
              <a:spcBef>
                <a:spcPts val="1200"/>
              </a:spcBef>
              <a:spcAft>
                <a:spcPts val="1200"/>
              </a:spcAft>
              <a:buNone/>
            </a:pPr>
            <a:r>
              <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9"/>
          <p:cNvSpPr txBox="1"/>
          <p:nvPr>
            <p:ph type="title"/>
          </p:nvPr>
        </p:nvSpPr>
        <p:spPr>
          <a:xfrm>
            <a:off x="956175" y="233348"/>
            <a:ext cx="7038900" cy="82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a:t>İç Küme Doğrulama Ölçütleri</a:t>
            </a:r>
            <a:endParaRPr/>
          </a:p>
        </p:txBody>
      </p:sp>
      <p:grpSp>
        <p:nvGrpSpPr>
          <p:cNvPr id="172" name="Google Shape;172;p19"/>
          <p:cNvGrpSpPr/>
          <p:nvPr/>
        </p:nvGrpSpPr>
        <p:grpSpPr>
          <a:xfrm>
            <a:off x="499189" y="3511380"/>
            <a:ext cx="8266095" cy="1206048"/>
            <a:chOff x="1593000" y="2322568"/>
            <a:chExt cx="5957975" cy="643500"/>
          </a:xfrm>
        </p:grpSpPr>
        <p:sp>
          <p:nvSpPr>
            <p:cNvPr id="173" name="Google Shape;173;p19"/>
            <p:cNvSpPr/>
            <p:nvPr/>
          </p:nvSpPr>
          <p:spPr>
            <a:xfrm>
              <a:off x="3728375" y="2322568"/>
              <a:ext cx="3822600" cy="643500"/>
            </a:xfrm>
            <a:prstGeom prst="rect">
              <a:avLst/>
            </a:prstGeom>
            <a:solidFill>
              <a:srgbClr val="EEEEEE"/>
            </a:solidFill>
            <a:ln>
              <a:noFill/>
            </a:ln>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174" name="Google Shape;174;p19"/>
            <p:cNvSpPr/>
            <p:nvPr/>
          </p:nvSpPr>
          <p:spPr>
            <a:xfrm flipH="1">
              <a:off x="2283025" y="2322575"/>
              <a:ext cx="1844400" cy="642600"/>
            </a:xfrm>
            <a:prstGeom prst="rect">
              <a:avLst/>
            </a:prstGeom>
            <a:solidFill>
              <a:srgbClr val="A7291E"/>
            </a:solidFill>
            <a:ln>
              <a:noFill/>
            </a:ln>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175" name="Google Shape;175;p19"/>
            <p:cNvSpPr/>
            <p:nvPr/>
          </p:nvSpPr>
          <p:spPr>
            <a:xfrm rot="-5400000">
              <a:off x="3501574" y="1934671"/>
              <a:ext cx="643356" cy="1419149"/>
            </a:xfrm>
            <a:prstGeom prst="flowChartOffpageConnector">
              <a:avLst/>
            </a:prstGeom>
            <a:solidFill>
              <a:srgbClr val="A7291E"/>
            </a:solidFill>
            <a:ln>
              <a:noFill/>
            </a:ln>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176" name="Google Shape;176;p19"/>
            <p:cNvSpPr/>
            <p:nvPr/>
          </p:nvSpPr>
          <p:spPr>
            <a:xfrm>
              <a:off x="2342625" y="2399951"/>
              <a:ext cx="1940700" cy="495900"/>
            </a:xfrm>
            <a:prstGeom prst="rect">
              <a:avLst/>
            </a:prstGeom>
            <a:noFill/>
            <a:ln>
              <a:noFill/>
            </a:ln>
          </p:spPr>
          <p:txBody>
            <a:bodyPr anchorCtr="0" anchor="ctr" bIns="126825" lIns="126825" spcFirstLastPara="1" rIns="126825" wrap="square" tIns="126825">
              <a:noAutofit/>
            </a:bodyPr>
            <a:lstStyle/>
            <a:p>
              <a:pPr indent="0" lvl="0" marL="0" rtl="0" algn="l">
                <a:lnSpc>
                  <a:spcPct val="115000"/>
                </a:lnSpc>
                <a:spcBef>
                  <a:spcPts val="0"/>
                </a:spcBef>
                <a:spcAft>
                  <a:spcPts val="0"/>
                </a:spcAft>
                <a:buNone/>
              </a:pPr>
              <a:r>
                <a:rPr lang="tr" sz="1387">
                  <a:solidFill>
                    <a:srgbClr val="FFFFFF"/>
                  </a:solidFill>
                  <a:latin typeface="Roboto Medium"/>
                  <a:ea typeface="Roboto Medium"/>
                  <a:cs typeface="Roboto Medium"/>
                  <a:sym typeface="Roboto Medium"/>
                </a:rPr>
                <a:t>Lorem ipsum dolor sit amet at nec at adipiscing</a:t>
              </a:r>
              <a:endParaRPr sz="1387">
                <a:solidFill>
                  <a:srgbClr val="FFFFFF"/>
                </a:solidFill>
                <a:latin typeface="Roboto"/>
                <a:ea typeface="Roboto"/>
                <a:cs typeface="Roboto"/>
                <a:sym typeface="Roboto"/>
              </a:endParaRPr>
            </a:p>
          </p:txBody>
        </p:sp>
        <p:sp>
          <p:nvSpPr>
            <p:cNvPr id="177" name="Google Shape;177;p19"/>
            <p:cNvSpPr/>
            <p:nvPr/>
          </p:nvSpPr>
          <p:spPr>
            <a:xfrm>
              <a:off x="1593000" y="2322568"/>
              <a:ext cx="690000" cy="642300"/>
            </a:xfrm>
            <a:prstGeom prst="rect">
              <a:avLst/>
            </a:prstGeom>
            <a:solidFill>
              <a:srgbClr val="B02B20"/>
            </a:solidFill>
            <a:ln>
              <a:noFill/>
            </a:ln>
            <a:effectLst>
              <a:outerShdw blurRad="99109" rotWithShape="0" algn="bl" dir="2700000" dist="39643">
                <a:srgbClr val="000000">
                  <a:alpha val="17000"/>
                </a:srgbClr>
              </a:outerShdw>
            </a:effectLst>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178" name="Google Shape;178;p19"/>
            <p:cNvSpPr/>
            <p:nvPr/>
          </p:nvSpPr>
          <p:spPr>
            <a:xfrm>
              <a:off x="1593000" y="2322575"/>
              <a:ext cx="690000" cy="642600"/>
            </a:xfrm>
            <a:prstGeom prst="rect">
              <a:avLst/>
            </a:prstGeom>
            <a:solidFill>
              <a:srgbClr val="BE2F22"/>
            </a:solidFill>
            <a:ln>
              <a:noFill/>
            </a:ln>
          </p:spPr>
          <p:txBody>
            <a:bodyPr anchorCtr="0" anchor="ctr" bIns="126825" lIns="126825" spcFirstLastPara="1" rIns="126825" wrap="square" tIns="126825">
              <a:noAutofit/>
            </a:bodyPr>
            <a:lstStyle/>
            <a:p>
              <a:pPr indent="0" lvl="0" marL="0" rtl="0" algn="ctr">
                <a:spcBef>
                  <a:spcPts val="0"/>
                </a:spcBef>
                <a:spcAft>
                  <a:spcPts val="0"/>
                </a:spcAft>
                <a:buNone/>
              </a:pPr>
              <a:r>
                <a:rPr lang="tr" sz="3607">
                  <a:solidFill>
                    <a:srgbClr val="FFFFFF"/>
                  </a:solidFill>
                  <a:latin typeface="Roboto Thin"/>
                  <a:ea typeface="Roboto Thin"/>
                  <a:cs typeface="Roboto Thin"/>
                  <a:sym typeface="Roboto Thin"/>
                </a:rPr>
                <a:t>03</a:t>
              </a:r>
              <a:endParaRPr sz="3607">
                <a:solidFill>
                  <a:srgbClr val="FFFFFF"/>
                </a:solidFill>
                <a:latin typeface="Roboto Thin"/>
                <a:ea typeface="Roboto Thin"/>
                <a:cs typeface="Roboto Thin"/>
                <a:sym typeface="Roboto Thin"/>
              </a:endParaRPr>
            </a:p>
          </p:txBody>
        </p:sp>
        <p:sp>
          <p:nvSpPr>
            <p:cNvPr id="179" name="Google Shape;179;p19"/>
            <p:cNvSpPr/>
            <p:nvPr/>
          </p:nvSpPr>
          <p:spPr>
            <a:xfrm>
              <a:off x="4387850" y="2323750"/>
              <a:ext cx="2971200" cy="642300"/>
            </a:xfrm>
            <a:prstGeom prst="rect">
              <a:avLst/>
            </a:prstGeom>
            <a:noFill/>
            <a:ln>
              <a:noFill/>
            </a:ln>
          </p:spPr>
          <p:txBody>
            <a:bodyPr anchorCtr="0" anchor="ctr" bIns="126825" lIns="126825" spcFirstLastPara="1" rIns="126825" wrap="square" tIns="126825">
              <a:noAutofit/>
            </a:bodyPr>
            <a:lstStyle/>
            <a:p>
              <a:pPr indent="-387625" lvl="0" marL="634295" rtl="0" algn="l">
                <a:lnSpc>
                  <a:spcPct val="115000"/>
                </a:lnSpc>
                <a:spcBef>
                  <a:spcPts val="0"/>
                </a:spcBef>
                <a:spcAft>
                  <a:spcPts val="0"/>
                </a:spcAft>
                <a:buClr>
                  <a:srgbClr val="A7291E"/>
                </a:buClr>
                <a:buSzPts val="1110"/>
                <a:buFont typeface="Roboto"/>
                <a:buChar char="●"/>
              </a:pPr>
              <a:r>
                <a:rPr lang="tr" sz="1109">
                  <a:solidFill>
                    <a:srgbClr val="A7291E"/>
                  </a:solidFill>
                  <a:latin typeface="Roboto"/>
                  <a:ea typeface="Roboto"/>
                  <a:cs typeface="Roboto"/>
                  <a:sym typeface="Roboto"/>
                </a:rPr>
                <a:t>Donec risus dolor porta venenatis </a:t>
              </a:r>
              <a:endParaRPr sz="1109">
                <a:solidFill>
                  <a:srgbClr val="A7291E"/>
                </a:solidFill>
                <a:latin typeface="Roboto"/>
                <a:ea typeface="Roboto"/>
                <a:cs typeface="Roboto"/>
                <a:sym typeface="Roboto"/>
              </a:endParaRPr>
            </a:p>
            <a:p>
              <a:pPr indent="-387625" lvl="0" marL="634295" rtl="0" algn="l">
                <a:lnSpc>
                  <a:spcPct val="115000"/>
                </a:lnSpc>
                <a:spcBef>
                  <a:spcPts val="0"/>
                </a:spcBef>
                <a:spcAft>
                  <a:spcPts val="0"/>
                </a:spcAft>
                <a:buClr>
                  <a:srgbClr val="A7291E"/>
                </a:buClr>
                <a:buSzPts val="1110"/>
                <a:buFont typeface="Roboto"/>
                <a:buChar char="●"/>
              </a:pPr>
              <a:r>
                <a:rPr lang="tr" sz="1109">
                  <a:solidFill>
                    <a:srgbClr val="A7291E"/>
                  </a:solidFill>
                  <a:latin typeface="Roboto"/>
                  <a:ea typeface="Roboto"/>
                  <a:cs typeface="Roboto"/>
                  <a:sym typeface="Roboto"/>
                </a:rPr>
                <a:t>Pharetra luctus felis</a:t>
              </a:r>
              <a:endParaRPr sz="1109">
                <a:solidFill>
                  <a:srgbClr val="A7291E"/>
                </a:solidFill>
                <a:latin typeface="Roboto"/>
                <a:ea typeface="Roboto"/>
                <a:cs typeface="Roboto"/>
                <a:sym typeface="Roboto"/>
              </a:endParaRPr>
            </a:p>
            <a:p>
              <a:pPr indent="-387625" lvl="0" marL="634295" rtl="0" algn="l">
                <a:lnSpc>
                  <a:spcPct val="115000"/>
                </a:lnSpc>
                <a:spcBef>
                  <a:spcPts val="0"/>
                </a:spcBef>
                <a:spcAft>
                  <a:spcPts val="0"/>
                </a:spcAft>
                <a:buClr>
                  <a:srgbClr val="A7291E"/>
                </a:buClr>
                <a:buSzPts val="1110"/>
                <a:buFont typeface="Roboto"/>
                <a:buChar char="●"/>
              </a:pPr>
              <a:r>
                <a:rPr lang="tr" sz="1109">
                  <a:solidFill>
                    <a:srgbClr val="A7291E"/>
                  </a:solidFill>
                  <a:latin typeface="Roboto"/>
                  <a:ea typeface="Roboto"/>
                  <a:cs typeface="Roboto"/>
                  <a:sym typeface="Roboto"/>
                </a:rPr>
                <a:t>Proin in tellus felis volutpat </a:t>
              </a:r>
              <a:endParaRPr sz="1109">
                <a:solidFill>
                  <a:srgbClr val="A7291E"/>
                </a:solidFill>
                <a:latin typeface="Roboto"/>
                <a:ea typeface="Roboto"/>
                <a:cs typeface="Roboto"/>
                <a:sym typeface="Roboto"/>
              </a:endParaRPr>
            </a:p>
          </p:txBody>
        </p:sp>
      </p:grpSp>
      <p:grpSp>
        <p:nvGrpSpPr>
          <p:cNvPr id="180" name="Google Shape;180;p19"/>
          <p:cNvGrpSpPr/>
          <p:nvPr/>
        </p:nvGrpSpPr>
        <p:grpSpPr>
          <a:xfrm>
            <a:off x="499189" y="2283440"/>
            <a:ext cx="8266095" cy="1206048"/>
            <a:chOff x="1593000" y="2322568"/>
            <a:chExt cx="5957975" cy="643500"/>
          </a:xfrm>
        </p:grpSpPr>
        <p:sp>
          <p:nvSpPr>
            <p:cNvPr id="181" name="Google Shape;181;p19"/>
            <p:cNvSpPr/>
            <p:nvPr/>
          </p:nvSpPr>
          <p:spPr>
            <a:xfrm>
              <a:off x="3728375" y="2322568"/>
              <a:ext cx="3822600" cy="643500"/>
            </a:xfrm>
            <a:prstGeom prst="rect">
              <a:avLst/>
            </a:prstGeom>
            <a:solidFill>
              <a:srgbClr val="EEEEEE"/>
            </a:solidFill>
            <a:ln>
              <a:noFill/>
            </a:ln>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182" name="Google Shape;182;p19"/>
            <p:cNvSpPr/>
            <p:nvPr/>
          </p:nvSpPr>
          <p:spPr>
            <a:xfrm flipH="1">
              <a:off x="2283025" y="2322575"/>
              <a:ext cx="1844400" cy="642600"/>
            </a:xfrm>
            <a:prstGeom prst="rect">
              <a:avLst/>
            </a:prstGeom>
            <a:solidFill>
              <a:srgbClr val="A7291E"/>
            </a:solidFill>
            <a:ln>
              <a:noFill/>
            </a:ln>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183" name="Google Shape;183;p19"/>
            <p:cNvSpPr/>
            <p:nvPr/>
          </p:nvSpPr>
          <p:spPr>
            <a:xfrm rot="-5400000">
              <a:off x="3501574" y="1934671"/>
              <a:ext cx="643356" cy="1419149"/>
            </a:xfrm>
            <a:prstGeom prst="flowChartOffpageConnector">
              <a:avLst/>
            </a:prstGeom>
            <a:solidFill>
              <a:srgbClr val="A7291E"/>
            </a:solidFill>
            <a:ln>
              <a:noFill/>
            </a:ln>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184" name="Google Shape;184;p19"/>
            <p:cNvSpPr/>
            <p:nvPr/>
          </p:nvSpPr>
          <p:spPr>
            <a:xfrm>
              <a:off x="2342625" y="2399951"/>
              <a:ext cx="1940700" cy="495900"/>
            </a:xfrm>
            <a:prstGeom prst="rect">
              <a:avLst/>
            </a:prstGeom>
            <a:noFill/>
            <a:ln>
              <a:noFill/>
            </a:ln>
          </p:spPr>
          <p:txBody>
            <a:bodyPr anchorCtr="0" anchor="ctr" bIns="126825" lIns="126825" spcFirstLastPara="1" rIns="126825" wrap="square" tIns="126825">
              <a:noAutofit/>
            </a:bodyPr>
            <a:lstStyle/>
            <a:p>
              <a:pPr indent="0" lvl="0" marL="0" rtl="0" algn="l">
                <a:lnSpc>
                  <a:spcPct val="115000"/>
                </a:lnSpc>
                <a:spcBef>
                  <a:spcPts val="0"/>
                </a:spcBef>
                <a:spcAft>
                  <a:spcPts val="0"/>
                </a:spcAft>
                <a:buNone/>
              </a:pPr>
              <a:r>
                <a:rPr lang="tr" sz="1387">
                  <a:solidFill>
                    <a:srgbClr val="FFFFFF"/>
                  </a:solidFill>
                  <a:latin typeface="Roboto Medium"/>
                  <a:ea typeface="Roboto Medium"/>
                  <a:cs typeface="Roboto Medium"/>
                  <a:sym typeface="Roboto Medium"/>
                </a:rPr>
                <a:t>Lorem ipsum dolor sit amet at nec at adipiscing</a:t>
              </a:r>
              <a:endParaRPr sz="1387">
                <a:solidFill>
                  <a:srgbClr val="FFFFFF"/>
                </a:solidFill>
                <a:latin typeface="Roboto"/>
                <a:ea typeface="Roboto"/>
                <a:cs typeface="Roboto"/>
                <a:sym typeface="Roboto"/>
              </a:endParaRPr>
            </a:p>
          </p:txBody>
        </p:sp>
        <p:sp>
          <p:nvSpPr>
            <p:cNvPr id="185" name="Google Shape;185;p19"/>
            <p:cNvSpPr/>
            <p:nvPr/>
          </p:nvSpPr>
          <p:spPr>
            <a:xfrm>
              <a:off x="1593000" y="2322568"/>
              <a:ext cx="690000" cy="642300"/>
            </a:xfrm>
            <a:prstGeom prst="rect">
              <a:avLst/>
            </a:prstGeom>
            <a:solidFill>
              <a:srgbClr val="B02B20"/>
            </a:solidFill>
            <a:ln>
              <a:noFill/>
            </a:ln>
            <a:effectLst>
              <a:outerShdw blurRad="99109" rotWithShape="0" algn="bl" dir="2700000" dist="39643">
                <a:srgbClr val="000000">
                  <a:alpha val="17000"/>
                </a:srgbClr>
              </a:outerShdw>
            </a:effectLst>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186" name="Google Shape;186;p19"/>
            <p:cNvSpPr/>
            <p:nvPr/>
          </p:nvSpPr>
          <p:spPr>
            <a:xfrm>
              <a:off x="1593000" y="2322575"/>
              <a:ext cx="690000" cy="642600"/>
            </a:xfrm>
            <a:prstGeom prst="rect">
              <a:avLst/>
            </a:prstGeom>
            <a:solidFill>
              <a:srgbClr val="BE2F22"/>
            </a:solidFill>
            <a:ln>
              <a:noFill/>
            </a:ln>
          </p:spPr>
          <p:txBody>
            <a:bodyPr anchorCtr="0" anchor="ctr" bIns="126825" lIns="126825" spcFirstLastPara="1" rIns="126825" wrap="square" tIns="126825">
              <a:noAutofit/>
            </a:bodyPr>
            <a:lstStyle/>
            <a:p>
              <a:pPr indent="0" lvl="0" marL="0" rtl="0" algn="ctr">
                <a:spcBef>
                  <a:spcPts val="0"/>
                </a:spcBef>
                <a:spcAft>
                  <a:spcPts val="0"/>
                </a:spcAft>
                <a:buNone/>
              </a:pPr>
              <a:r>
                <a:rPr lang="tr" sz="3607">
                  <a:solidFill>
                    <a:srgbClr val="FFFFFF"/>
                  </a:solidFill>
                  <a:latin typeface="Roboto Thin"/>
                  <a:ea typeface="Roboto Thin"/>
                  <a:cs typeface="Roboto Thin"/>
                  <a:sym typeface="Roboto Thin"/>
                </a:rPr>
                <a:t>02</a:t>
              </a:r>
              <a:endParaRPr sz="3607">
                <a:solidFill>
                  <a:srgbClr val="FFFFFF"/>
                </a:solidFill>
                <a:latin typeface="Roboto Thin"/>
                <a:ea typeface="Roboto Thin"/>
                <a:cs typeface="Roboto Thin"/>
                <a:sym typeface="Roboto Thin"/>
              </a:endParaRPr>
            </a:p>
          </p:txBody>
        </p:sp>
        <p:sp>
          <p:nvSpPr>
            <p:cNvPr id="187" name="Google Shape;187;p19"/>
            <p:cNvSpPr/>
            <p:nvPr/>
          </p:nvSpPr>
          <p:spPr>
            <a:xfrm>
              <a:off x="4387850" y="2323750"/>
              <a:ext cx="2971200" cy="642300"/>
            </a:xfrm>
            <a:prstGeom prst="rect">
              <a:avLst/>
            </a:prstGeom>
            <a:noFill/>
            <a:ln>
              <a:noFill/>
            </a:ln>
          </p:spPr>
          <p:txBody>
            <a:bodyPr anchorCtr="0" anchor="ctr" bIns="126825" lIns="126825" spcFirstLastPara="1" rIns="126825" wrap="square" tIns="126825">
              <a:noAutofit/>
            </a:bodyPr>
            <a:lstStyle/>
            <a:p>
              <a:pPr indent="-387625" lvl="0" marL="634295" rtl="0" algn="l">
                <a:lnSpc>
                  <a:spcPct val="115000"/>
                </a:lnSpc>
                <a:spcBef>
                  <a:spcPts val="0"/>
                </a:spcBef>
                <a:spcAft>
                  <a:spcPts val="0"/>
                </a:spcAft>
                <a:buClr>
                  <a:srgbClr val="A7291E"/>
                </a:buClr>
                <a:buSzPts val="1110"/>
                <a:buFont typeface="Roboto"/>
                <a:buChar char="●"/>
              </a:pPr>
              <a:r>
                <a:rPr lang="tr" sz="1109">
                  <a:solidFill>
                    <a:srgbClr val="A7291E"/>
                  </a:solidFill>
                  <a:latin typeface="Roboto"/>
                  <a:ea typeface="Roboto"/>
                  <a:cs typeface="Roboto"/>
                  <a:sym typeface="Roboto"/>
                </a:rPr>
                <a:t>Donec risus dolor porta venenatis </a:t>
              </a:r>
              <a:endParaRPr sz="1109">
                <a:solidFill>
                  <a:srgbClr val="A7291E"/>
                </a:solidFill>
                <a:latin typeface="Roboto"/>
                <a:ea typeface="Roboto"/>
                <a:cs typeface="Roboto"/>
                <a:sym typeface="Roboto"/>
              </a:endParaRPr>
            </a:p>
            <a:p>
              <a:pPr indent="-387625" lvl="0" marL="634295" rtl="0" algn="l">
                <a:lnSpc>
                  <a:spcPct val="115000"/>
                </a:lnSpc>
                <a:spcBef>
                  <a:spcPts val="0"/>
                </a:spcBef>
                <a:spcAft>
                  <a:spcPts val="0"/>
                </a:spcAft>
                <a:buClr>
                  <a:srgbClr val="A7291E"/>
                </a:buClr>
                <a:buSzPts val="1110"/>
                <a:buFont typeface="Roboto"/>
                <a:buChar char="●"/>
              </a:pPr>
              <a:r>
                <a:rPr lang="tr" sz="1109">
                  <a:solidFill>
                    <a:srgbClr val="A7291E"/>
                  </a:solidFill>
                  <a:latin typeface="Roboto"/>
                  <a:ea typeface="Roboto"/>
                  <a:cs typeface="Roboto"/>
                  <a:sym typeface="Roboto"/>
                </a:rPr>
                <a:t>Pharetra luctus felis</a:t>
              </a:r>
              <a:endParaRPr sz="1109">
                <a:solidFill>
                  <a:srgbClr val="A7291E"/>
                </a:solidFill>
                <a:latin typeface="Roboto"/>
                <a:ea typeface="Roboto"/>
                <a:cs typeface="Roboto"/>
                <a:sym typeface="Roboto"/>
              </a:endParaRPr>
            </a:p>
            <a:p>
              <a:pPr indent="-387625" lvl="0" marL="634295" rtl="0" algn="l">
                <a:lnSpc>
                  <a:spcPct val="115000"/>
                </a:lnSpc>
                <a:spcBef>
                  <a:spcPts val="0"/>
                </a:spcBef>
                <a:spcAft>
                  <a:spcPts val="0"/>
                </a:spcAft>
                <a:buClr>
                  <a:srgbClr val="A7291E"/>
                </a:buClr>
                <a:buSzPts val="1110"/>
                <a:buFont typeface="Roboto"/>
                <a:buChar char="●"/>
              </a:pPr>
              <a:r>
                <a:rPr lang="tr" sz="1109">
                  <a:solidFill>
                    <a:srgbClr val="A7291E"/>
                  </a:solidFill>
                  <a:latin typeface="Roboto"/>
                  <a:ea typeface="Roboto"/>
                  <a:cs typeface="Roboto"/>
                  <a:sym typeface="Roboto"/>
                </a:rPr>
                <a:t>Proin in tellus felis volutpat </a:t>
              </a:r>
              <a:endParaRPr sz="1109">
                <a:solidFill>
                  <a:srgbClr val="A7291E"/>
                </a:solidFill>
                <a:latin typeface="Roboto"/>
                <a:ea typeface="Roboto"/>
                <a:cs typeface="Roboto"/>
                <a:sym typeface="Roboto"/>
              </a:endParaRPr>
            </a:p>
          </p:txBody>
        </p:sp>
      </p:grpSp>
      <p:grpSp>
        <p:nvGrpSpPr>
          <p:cNvPr id="188" name="Google Shape;188;p19"/>
          <p:cNvGrpSpPr/>
          <p:nvPr/>
        </p:nvGrpSpPr>
        <p:grpSpPr>
          <a:xfrm>
            <a:off x="499189" y="1055483"/>
            <a:ext cx="8266095" cy="1206048"/>
            <a:chOff x="1593000" y="2322568"/>
            <a:chExt cx="5957975" cy="643500"/>
          </a:xfrm>
        </p:grpSpPr>
        <p:sp>
          <p:nvSpPr>
            <p:cNvPr id="189" name="Google Shape;189;p19"/>
            <p:cNvSpPr/>
            <p:nvPr/>
          </p:nvSpPr>
          <p:spPr>
            <a:xfrm>
              <a:off x="3728375" y="2322568"/>
              <a:ext cx="3822600" cy="643500"/>
            </a:xfrm>
            <a:prstGeom prst="rect">
              <a:avLst/>
            </a:prstGeom>
            <a:solidFill>
              <a:srgbClr val="EEEEEE"/>
            </a:solidFill>
            <a:ln>
              <a:noFill/>
            </a:ln>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190" name="Google Shape;190;p19"/>
            <p:cNvSpPr/>
            <p:nvPr/>
          </p:nvSpPr>
          <p:spPr>
            <a:xfrm flipH="1">
              <a:off x="2283025" y="2322575"/>
              <a:ext cx="1844400" cy="642600"/>
            </a:xfrm>
            <a:prstGeom prst="rect">
              <a:avLst/>
            </a:prstGeom>
            <a:solidFill>
              <a:srgbClr val="A7291E"/>
            </a:solidFill>
            <a:ln>
              <a:noFill/>
            </a:ln>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191" name="Google Shape;191;p19"/>
            <p:cNvSpPr/>
            <p:nvPr/>
          </p:nvSpPr>
          <p:spPr>
            <a:xfrm rot="-5400000">
              <a:off x="3501574" y="1934671"/>
              <a:ext cx="643356" cy="1419149"/>
            </a:xfrm>
            <a:prstGeom prst="flowChartOffpageConnector">
              <a:avLst/>
            </a:prstGeom>
            <a:solidFill>
              <a:srgbClr val="A7291E"/>
            </a:solidFill>
            <a:ln>
              <a:noFill/>
            </a:ln>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192" name="Google Shape;192;p19"/>
            <p:cNvSpPr/>
            <p:nvPr/>
          </p:nvSpPr>
          <p:spPr>
            <a:xfrm>
              <a:off x="2342625" y="2399951"/>
              <a:ext cx="1940700" cy="495900"/>
            </a:xfrm>
            <a:prstGeom prst="rect">
              <a:avLst/>
            </a:prstGeom>
            <a:noFill/>
            <a:ln>
              <a:noFill/>
            </a:ln>
          </p:spPr>
          <p:txBody>
            <a:bodyPr anchorCtr="0" anchor="ctr" bIns="126825" lIns="126825" spcFirstLastPara="1" rIns="126825" wrap="square" tIns="126825">
              <a:noAutofit/>
            </a:bodyPr>
            <a:lstStyle/>
            <a:p>
              <a:pPr indent="0" lvl="0" marL="0" rtl="0" algn="l">
                <a:lnSpc>
                  <a:spcPct val="115000"/>
                </a:lnSpc>
                <a:spcBef>
                  <a:spcPts val="0"/>
                </a:spcBef>
                <a:spcAft>
                  <a:spcPts val="0"/>
                </a:spcAft>
                <a:buNone/>
              </a:pPr>
              <a:r>
                <a:rPr lang="tr" sz="1387">
                  <a:solidFill>
                    <a:srgbClr val="FFFFFF"/>
                  </a:solidFill>
                  <a:latin typeface="Roboto Medium"/>
                  <a:ea typeface="Roboto Medium"/>
                  <a:cs typeface="Roboto Medium"/>
                  <a:sym typeface="Roboto Medium"/>
                </a:rPr>
                <a:t>Lorem ipsum dolor sit amet at nec at adipiscing</a:t>
              </a:r>
              <a:endParaRPr sz="1387">
                <a:solidFill>
                  <a:srgbClr val="FFFFFF"/>
                </a:solidFill>
                <a:latin typeface="Roboto"/>
                <a:ea typeface="Roboto"/>
                <a:cs typeface="Roboto"/>
                <a:sym typeface="Roboto"/>
              </a:endParaRPr>
            </a:p>
          </p:txBody>
        </p:sp>
        <p:sp>
          <p:nvSpPr>
            <p:cNvPr id="193" name="Google Shape;193;p19"/>
            <p:cNvSpPr/>
            <p:nvPr/>
          </p:nvSpPr>
          <p:spPr>
            <a:xfrm>
              <a:off x="1593000" y="2322568"/>
              <a:ext cx="690000" cy="642300"/>
            </a:xfrm>
            <a:prstGeom prst="rect">
              <a:avLst/>
            </a:prstGeom>
            <a:solidFill>
              <a:srgbClr val="B02B20"/>
            </a:solidFill>
            <a:ln>
              <a:noFill/>
            </a:ln>
            <a:effectLst>
              <a:outerShdw blurRad="99109" rotWithShape="0" algn="bl" dir="2700000" dist="39643">
                <a:srgbClr val="000000">
                  <a:alpha val="17000"/>
                </a:srgbClr>
              </a:outerShdw>
            </a:effectLst>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194" name="Google Shape;194;p19"/>
            <p:cNvSpPr/>
            <p:nvPr/>
          </p:nvSpPr>
          <p:spPr>
            <a:xfrm>
              <a:off x="1593000" y="2322575"/>
              <a:ext cx="690000" cy="642600"/>
            </a:xfrm>
            <a:prstGeom prst="rect">
              <a:avLst/>
            </a:prstGeom>
            <a:solidFill>
              <a:srgbClr val="BE2F22"/>
            </a:solidFill>
            <a:ln>
              <a:noFill/>
            </a:ln>
          </p:spPr>
          <p:txBody>
            <a:bodyPr anchorCtr="0" anchor="ctr" bIns="126825" lIns="126825" spcFirstLastPara="1" rIns="126825" wrap="square" tIns="126825">
              <a:noAutofit/>
            </a:bodyPr>
            <a:lstStyle/>
            <a:p>
              <a:pPr indent="0" lvl="0" marL="0" rtl="0" algn="ctr">
                <a:spcBef>
                  <a:spcPts val="0"/>
                </a:spcBef>
                <a:spcAft>
                  <a:spcPts val="0"/>
                </a:spcAft>
                <a:buNone/>
              </a:pPr>
              <a:r>
                <a:rPr lang="tr" sz="3607">
                  <a:solidFill>
                    <a:srgbClr val="FFFFFF"/>
                  </a:solidFill>
                  <a:latin typeface="Roboto Thin"/>
                  <a:ea typeface="Roboto Thin"/>
                  <a:cs typeface="Roboto Thin"/>
                  <a:sym typeface="Roboto Thin"/>
                </a:rPr>
                <a:t>01</a:t>
              </a:r>
              <a:endParaRPr sz="3607">
                <a:solidFill>
                  <a:srgbClr val="FFFFFF"/>
                </a:solidFill>
                <a:latin typeface="Roboto Thin"/>
                <a:ea typeface="Roboto Thin"/>
                <a:cs typeface="Roboto Thin"/>
                <a:sym typeface="Roboto Thin"/>
              </a:endParaRPr>
            </a:p>
          </p:txBody>
        </p:sp>
        <p:sp>
          <p:nvSpPr>
            <p:cNvPr id="195" name="Google Shape;195;p19"/>
            <p:cNvSpPr/>
            <p:nvPr/>
          </p:nvSpPr>
          <p:spPr>
            <a:xfrm>
              <a:off x="4387850" y="2323750"/>
              <a:ext cx="2971200" cy="642300"/>
            </a:xfrm>
            <a:prstGeom prst="rect">
              <a:avLst/>
            </a:prstGeom>
            <a:noFill/>
            <a:ln>
              <a:noFill/>
            </a:ln>
          </p:spPr>
          <p:txBody>
            <a:bodyPr anchorCtr="0" anchor="ctr" bIns="126825" lIns="126825" spcFirstLastPara="1" rIns="126825" wrap="square" tIns="126825">
              <a:noAutofit/>
            </a:bodyPr>
            <a:lstStyle/>
            <a:p>
              <a:pPr indent="-387625" lvl="0" marL="634295" rtl="0" algn="l">
                <a:lnSpc>
                  <a:spcPct val="115000"/>
                </a:lnSpc>
                <a:spcBef>
                  <a:spcPts val="0"/>
                </a:spcBef>
                <a:spcAft>
                  <a:spcPts val="0"/>
                </a:spcAft>
                <a:buClr>
                  <a:srgbClr val="A7291E"/>
                </a:buClr>
                <a:buSzPts val="1110"/>
                <a:buFont typeface="Roboto"/>
                <a:buChar char="●"/>
              </a:pPr>
              <a:r>
                <a:rPr lang="tr" sz="1109">
                  <a:solidFill>
                    <a:srgbClr val="A7291E"/>
                  </a:solidFill>
                  <a:latin typeface="Roboto"/>
                  <a:ea typeface="Roboto"/>
                  <a:cs typeface="Roboto"/>
                  <a:sym typeface="Roboto"/>
                </a:rPr>
                <a:t>Donec risus dolor porta venenatis </a:t>
              </a:r>
              <a:endParaRPr sz="1109">
                <a:solidFill>
                  <a:srgbClr val="A7291E"/>
                </a:solidFill>
                <a:latin typeface="Roboto"/>
                <a:ea typeface="Roboto"/>
                <a:cs typeface="Roboto"/>
                <a:sym typeface="Roboto"/>
              </a:endParaRPr>
            </a:p>
            <a:p>
              <a:pPr indent="-387625" lvl="0" marL="634295" rtl="0" algn="l">
                <a:lnSpc>
                  <a:spcPct val="115000"/>
                </a:lnSpc>
                <a:spcBef>
                  <a:spcPts val="0"/>
                </a:spcBef>
                <a:spcAft>
                  <a:spcPts val="0"/>
                </a:spcAft>
                <a:buClr>
                  <a:srgbClr val="A7291E"/>
                </a:buClr>
                <a:buSzPts val="1110"/>
                <a:buFont typeface="Roboto"/>
                <a:buChar char="●"/>
              </a:pPr>
              <a:r>
                <a:rPr lang="tr" sz="1109">
                  <a:solidFill>
                    <a:srgbClr val="A7291E"/>
                  </a:solidFill>
                  <a:latin typeface="Roboto"/>
                  <a:ea typeface="Roboto"/>
                  <a:cs typeface="Roboto"/>
                  <a:sym typeface="Roboto"/>
                </a:rPr>
                <a:t>Pharetra luctus felis</a:t>
              </a:r>
              <a:endParaRPr sz="1109">
                <a:solidFill>
                  <a:srgbClr val="A7291E"/>
                </a:solidFill>
                <a:latin typeface="Roboto"/>
                <a:ea typeface="Roboto"/>
                <a:cs typeface="Roboto"/>
                <a:sym typeface="Roboto"/>
              </a:endParaRPr>
            </a:p>
            <a:p>
              <a:pPr indent="-387625" lvl="0" marL="634295" rtl="0" algn="l">
                <a:lnSpc>
                  <a:spcPct val="115000"/>
                </a:lnSpc>
                <a:spcBef>
                  <a:spcPts val="0"/>
                </a:spcBef>
                <a:spcAft>
                  <a:spcPts val="0"/>
                </a:spcAft>
                <a:buClr>
                  <a:srgbClr val="A7291E"/>
                </a:buClr>
                <a:buSzPts val="1110"/>
                <a:buFont typeface="Roboto"/>
                <a:buChar char="●"/>
              </a:pPr>
              <a:r>
                <a:rPr lang="tr" sz="1109">
                  <a:solidFill>
                    <a:srgbClr val="A7291E"/>
                  </a:solidFill>
                  <a:latin typeface="Roboto"/>
                  <a:ea typeface="Roboto"/>
                  <a:cs typeface="Roboto"/>
                  <a:sym typeface="Roboto"/>
                </a:rPr>
                <a:t>Proin in tellus felis volutpat </a:t>
              </a:r>
              <a:endParaRPr sz="1109">
                <a:solidFill>
                  <a:srgbClr val="A7291E"/>
                </a:solidFill>
                <a:latin typeface="Roboto"/>
                <a:ea typeface="Roboto"/>
                <a:cs typeface="Roboto"/>
                <a:sym typeface="Roboto"/>
              </a:endParaRPr>
            </a:p>
          </p:txBody>
        </p:sp>
      </p:grpSp>
      <p:grpSp>
        <p:nvGrpSpPr>
          <p:cNvPr id="196" name="Google Shape;196;p19"/>
          <p:cNvGrpSpPr/>
          <p:nvPr/>
        </p:nvGrpSpPr>
        <p:grpSpPr>
          <a:xfrm>
            <a:off x="499189" y="3511380"/>
            <a:ext cx="8266095" cy="1206048"/>
            <a:chOff x="1593000" y="2322568"/>
            <a:chExt cx="5957975" cy="643500"/>
          </a:xfrm>
        </p:grpSpPr>
        <p:sp>
          <p:nvSpPr>
            <p:cNvPr id="197" name="Google Shape;197;p19"/>
            <p:cNvSpPr/>
            <p:nvPr/>
          </p:nvSpPr>
          <p:spPr>
            <a:xfrm>
              <a:off x="3728375" y="2322568"/>
              <a:ext cx="3822600" cy="643500"/>
            </a:xfrm>
            <a:prstGeom prst="rect">
              <a:avLst/>
            </a:prstGeom>
            <a:solidFill>
              <a:srgbClr val="EEEEEE"/>
            </a:solidFill>
            <a:ln>
              <a:noFill/>
            </a:ln>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198" name="Google Shape;198;p19"/>
            <p:cNvSpPr/>
            <p:nvPr/>
          </p:nvSpPr>
          <p:spPr>
            <a:xfrm flipH="1">
              <a:off x="2283025" y="2322575"/>
              <a:ext cx="1844400" cy="642600"/>
            </a:xfrm>
            <a:prstGeom prst="rect">
              <a:avLst/>
            </a:prstGeom>
            <a:solidFill>
              <a:srgbClr val="0B713F"/>
            </a:solidFill>
            <a:ln>
              <a:noFill/>
            </a:ln>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199" name="Google Shape;199;p19"/>
            <p:cNvSpPr/>
            <p:nvPr/>
          </p:nvSpPr>
          <p:spPr>
            <a:xfrm rot="-5400000">
              <a:off x="3501574" y="1934671"/>
              <a:ext cx="643356" cy="1419149"/>
            </a:xfrm>
            <a:prstGeom prst="flowChartOffpageConnector">
              <a:avLst/>
            </a:prstGeom>
            <a:solidFill>
              <a:srgbClr val="0B713F"/>
            </a:solidFill>
            <a:ln>
              <a:noFill/>
            </a:ln>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200" name="Google Shape;200;p19"/>
            <p:cNvSpPr/>
            <p:nvPr/>
          </p:nvSpPr>
          <p:spPr>
            <a:xfrm>
              <a:off x="2342625" y="2399951"/>
              <a:ext cx="1940700" cy="495900"/>
            </a:xfrm>
            <a:prstGeom prst="rect">
              <a:avLst/>
            </a:prstGeom>
            <a:noFill/>
            <a:ln>
              <a:noFill/>
            </a:ln>
          </p:spPr>
          <p:txBody>
            <a:bodyPr anchorCtr="0" anchor="ctr" bIns="126825" lIns="126825" spcFirstLastPara="1" rIns="126825" wrap="square" tIns="126825">
              <a:noAutofit/>
            </a:bodyPr>
            <a:lstStyle/>
            <a:p>
              <a:pPr indent="0" lvl="0" marL="0" rtl="0" algn="l">
                <a:lnSpc>
                  <a:spcPct val="115000"/>
                </a:lnSpc>
                <a:spcBef>
                  <a:spcPts val="0"/>
                </a:spcBef>
                <a:spcAft>
                  <a:spcPts val="0"/>
                </a:spcAft>
                <a:buNone/>
              </a:pPr>
              <a:r>
                <a:rPr lang="tr" sz="1387">
                  <a:solidFill>
                    <a:srgbClr val="FFFFFF"/>
                  </a:solidFill>
                  <a:latin typeface="Roboto Medium"/>
                  <a:ea typeface="Roboto Medium"/>
                  <a:cs typeface="Roboto Medium"/>
                  <a:sym typeface="Roboto Medium"/>
                </a:rPr>
                <a:t>BAĞLANTILILIK</a:t>
              </a:r>
              <a:endParaRPr sz="1387">
                <a:solidFill>
                  <a:srgbClr val="FFFFFF"/>
                </a:solidFill>
                <a:latin typeface="Roboto"/>
                <a:ea typeface="Roboto"/>
                <a:cs typeface="Roboto"/>
                <a:sym typeface="Roboto"/>
              </a:endParaRPr>
            </a:p>
          </p:txBody>
        </p:sp>
        <p:sp>
          <p:nvSpPr>
            <p:cNvPr id="201" name="Google Shape;201;p19"/>
            <p:cNvSpPr/>
            <p:nvPr/>
          </p:nvSpPr>
          <p:spPr>
            <a:xfrm>
              <a:off x="1593000" y="2322568"/>
              <a:ext cx="690000" cy="642300"/>
            </a:xfrm>
            <a:prstGeom prst="rect">
              <a:avLst/>
            </a:prstGeom>
            <a:solidFill>
              <a:srgbClr val="0B7743"/>
            </a:solidFill>
            <a:ln>
              <a:noFill/>
            </a:ln>
            <a:effectLst>
              <a:outerShdw blurRad="99109" rotWithShape="0" algn="bl" dir="2700000" dist="39643">
                <a:srgbClr val="000000">
                  <a:alpha val="17000"/>
                </a:srgbClr>
              </a:outerShdw>
            </a:effectLst>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202" name="Google Shape;202;p19"/>
            <p:cNvSpPr/>
            <p:nvPr/>
          </p:nvSpPr>
          <p:spPr>
            <a:xfrm>
              <a:off x="1593000" y="2322575"/>
              <a:ext cx="690000" cy="642600"/>
            </a:xfrm>
            <a:prstGeom prst="rect">
              <a:avLst/>
            </a:prstGeom>
            <a:solidFill>
              <a:srgbClr val="0C8148"/>
            </a:solidFill>
            <a:ln>
              <a:noFill/>
            </a:ln>
          </p:spPr>
          <p:txBody>
            <a:bodyPr anchorCtr="0" anchor="ctr" bIns="126825" lIns="126825" spcFirstLastPara="1" rIns="126825" wrap="square" tIns="126825">
              <a:noAutofit/>
            </a:bodyPr>
            <a:lstStyle/>
            <a:p>
              <a:pPr indent="0" lvl="0" marL="0" rtl="0" algn="ctr">
                <a:spcBef>
                  <a:spcPts val="0"/>
                </a:spcBef>
                <a:spcAft>
                  <a:spcPts val="0"/>
                </a:spcAft>
                <a:buNone/>
              </a:pPr>
              <a:r>
                <a:rPr lang="tr" sz="3607">
                  <a:solidFill>
                    <a:srgbClr val="FFFFFF"/>
                  </a:solidFill>
                  <a:latin typeface="Roboto Thin"/>
                  <a:ea typeface="Roboto Thin"/>
                  <a:cs typeface="Roboto Thin"/>
                  <a:sym typeface="Roboto Thin"/>
                </a:rPr>
                <a:t>03</a:t>
              </a:r>
              <a:endParaRPr sz="3607">
                <a:solidFill>
                  <a:srgbClr val="FFFFFF"/>
                </a:solidFill>
                <a:latin typeface="Roboto Thin"/>
                <a:ea typeface="Roboto Thin"/>
                <a:cs typeface="Roboto Thin"/>
                <a:sym typeface="Roboto Thin"/>
              </a:endParaRPr>
            </a:p>
          </p:txBody>
        </p:sp>
        <p:sp>
          <p:nvSpPr>
            <p:cNvPr id="203" name="Google Shape;203;p19"/>
            <p:cNvSpPr/>
            <p:nvPr/>
          </p:nvSpPr>
          <p:spPr>
            <a:xfrm>
              <a:off x="4387850" y="2323750"/>
              <a:ext cx="2971200" cy="642300"/>
            </a:xfrm>
            <a:prstGeom prst="rect">
              <a:avLst/>
            </a:prstGeom>
            <a:noFill/>
            <a:ln>
              <a:noFill/>
            </a:ln>
          </p:spPr>
          <p:txBody>
            <a:bodyPr anchorCtr="0" anchor="ctr" bIns="126825" lIns="126825" spcFirstLastPara="1" rIns="126825" wrap="square" tIns="126825">
              <a:noAutofit/>
            </a:bodyPr>
            <a:lstStyle/>
            <a:p>
              <a:pPr indent="-387625" lvl="0" marL="634295" rtl="0" algn="l">
                <a:lnSpc>
                  <a:spcPct val="115000"/>
                </a:lnSpc>
                <a:spcBef>
                  <a:spcPts val="0"/>
                </a:spcBef>
                <a:spcAft>
                  <a:spcPts val="0"/>
                </a:spcAft>
                <a:buClr>
                  <a:srgbClr val="0B713F"/>
                </a:buClr>
                <a:buSzPts val="1110"/>
                <a:buFont typeface="Roboto"/>
                <a:buChar char="●"/>
              </a:pPr>
              <a:r>
                <a:rPr lang="tr" sz="1109">
                  <a:solidFill>
                    <a:srgbClr val="0B713F"/>
                  </a:solidFill>
                  <a:latin typeface="Roboto"/>
                  <a:ea typeface="Roboto"/>
                  <a:cs typeface="Roboto"/>
                  <a:sym typeface="Roboto"/>
                </a:rPr>
                <a:t>Öğelerin veri alanında en yakın komşularıyla aynı</a:t>
              </a:r>
              <a:endParaRPr sz="1109">
                <a:solidFill>
                  <a:srgbClr val="0B713F"/>
                </a:solidFill>
                <a:latin typeface="Roboto"/>
                <a:ea typeface="Roboto"/>
                <a:cs typeface="Roboto"/>
                <a:sym typeface="Roboto"/>
              </a:endParaRPr>
            </a:p>
            <a:p>
              <a:pPr indent="0" lvl="0" marL="634295" rtl="0" algn="l">
                <a:lnSpc>
                  <a:spcPct val="115000"/>
                </a:lnSpc>
                <a:spcBef>
                  <a:spcPts val="0"/>
                </a:spcBef>
                <a:spcAft>
                  <a:spcPts val="0"/>
                </a:spcAft>
                <a:buNone/>
              </a:pPr>
              <a:r>
                <a:rPr lang="tr" sz="1109">
                  <a:solidFill>
                    <a:srgbClr val="0B713F"/>
                  </a:solidFill>
                  <a:latin typeface="Roboto"/>
                  <a:ea typeface="Roboto"/>
                  <a:cs typeface="Roboto"/>
                  <a:sym typeface="Roboto"/>
                </a:rPr>
                <a:t>kümelenmede yer alma derecesine karşılık gelir.</a:t>
              </a:r>
              <a:endParaRPr sz="1109">
                <a:solidFill>
                  <a:srgbClr val="0B713F"/>
                </a:solidFill>
                <a:latin typeface="Roboto"/>
                <a:ea typeface="Roboto"/>
                <a:cs typeface="Roboto"/>
                <a:sym typeface="Roboto"/>
              </a:endParaRPr>
            </a:p>
            <a:p>
              <a:pPr indent="0" lvl="0" marL="634295" rtl="0" algn="l">
                <a:lnSpc>
                  <a:spcPct val="115000"/>
                </a:lnSpc>
                <a:spcBef>
                  <a:spcPts val="0"/>
                </a:spcBef>
                <a:spcAft>
                  <a:spcPts val="0"/>
                </a:spcAft>
                <a:buNone/>
              </a:pPr>
              <a:r>
                <a:t/>
              </a:r>
              <a:endParaRPr sz="1109">
                <a:solidFill>
                  <a:srgbClr val="0B713F"/>
                </a:solidFill>
                <a:latin typeface="Roboto"/>
                <a:ea typeface="Roboto"/>
                <a:cs typeface="Roboto"/>
                <a:sym typeface="Roboto"/>
              </a:endParaRPr>
            </a:p>
            <a:p>
              <a:pPr indent="-387625" lvl="0" marL="634295" rtl="0" algn="l">
                <a:lnSpc>
                  <a:spcPct val="115000"/>
                </a:lnSpc>
                <a:spcBef>
                  <a:spcPts val="0"/>
                </a:spcBef>
                <a:spcAft>
                  <a:spcPts val="0"/>
                </a:spcAft>
                <a:buClr>
                  <a:srgbClr val="0B713F"/>
                </a:buClr>
                <a:buSzPts val="1110"/>
                <a:buFont typeface="Roboto"/>
                <a:buChar char="●"/>
              </a:pPr>
              <a:r>
                <a:rPr lang="tr" sz="1109">
                  <a:solidFill>
                    <a:srgbClr val="0B713F"/>
                  </a:solidFill>
                  <a:latin typeface="Roboto"/>
                  <a:ea typeface="Roboto"/>
                  <a:cs typeface="Roboto"/>
                  <a:sym typeface="Roboto"/>
                </a:rPr>
                <a:t>Bağlantılılık, 0 ile sonsuz arasında bir değere sahiptir ve en aza indirilmelidir.</a:t>
              </a:r>
              <a:endParaRPr sz="1109">
                <a:solidFill>
                  <a:srgbClr val="0B713F"/>
                </a:solidFill>
                <a:latin typeface="Roboto"/>
                <a:ea typeface="Roboto"/>
                <a:cs typeface="Roboto"/>
                <a:sym typeface="Roboto"/>
              </a:endParaRPr>
            </a:p>
            <a:p>
              <a:pPr indent="0" lvl="0" marL="634295" rtl="0" algn="l">
                <a:lnSpc>
                  <a:spcPct val="115000"/>
                </a:lnSpc>
                <a:spcBef>
                  <a:spcPts val="0"/>
                </a:spcBef>
                <a:spcAft>
                  <a:spcPts val="0"/>
                </a:spcAft>
                <a:buNone/>
              </a:pPr>
              <a:r>
                <a:t/>
              </a:r>
              <a:endParaRPr sz="1109">
                <a:solidFill>
                  <a:srgbClr val="0B713F"/>
                </a:solidFill>
                <a:latin typeface="Roboto"/>
                <a:ea typeface="Roboto"/>
                <a:cs typeface="Roboto"/>
                <a:sym typeface="Roboto"/>
              </a:endParaRPr>
            </a:p>
          </p:txBody>
        </p:sp>
      </p:grpSp>
      <p:grpSp>
        <p:nvGrpSpPr>
          <p:cNvPr id="204" name="Google Shape;204;p19"/>
          <p:cNvGrpSpPr/>
          <p:nvPr/>
        </p:nvGrpSpPr>
        <p:grpSpPr>
          <a:xfrm>
            <a:off x="499189" y="2283440"/>
            <a:ext cx="8266095" cy="1206048"/>
            <a:chOff x="1593000" y="2322568"/>
            <a:chExt cx="5957975" cy="643500"/>
          </a:xfrm>
        </p:grpSpPr>
        <p:sp>
          <p:nvSpPr>
            <p:cNvPr id="205" name="Google Shape;205;p19"/>
            <p:cNvSpPr/>
            <p:nvPr/>
          </p:nvSpPr>
          <p:spPr>
            <a:xfrm>
              <a:off x="3728375" y="2322568"/>
              <a:ext cx="3822600" cy="643500"/>
            </a:xfrm>
            <a:prstGeom prst="rect">
              <a:avLst/>
            </a:prstGeom>
            <a:solidFill>
              <a:srgbClr val="EEEEEE"/>
            </a:solidFill>
            <a:ln>
              <a:noFill/>
            </a:ln>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206" name="Google Shape;206;p19"/>
            <p:cNvSpPr/>
            <p:nvPr/>
          </p:nvSpPr>
          <p:spPr>
            <a:xfrm flipH="1">
              <a:off x="2283025" y="2322575"/>
              <a:ext cx="1844400" cy="642600"/>
            </a:xfrm>
            <a:prstGeom prst="rect">
              <a:avLst/>
            </a:prstGeom>
            <a:solidFill>
              <a:srgbClr val="0B713F"/>
            </a:solidFill>
            <a:ln>
              <a:noFill/>
            </a:ln>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207" name="Google Shape;207;p19"/>
            <p:cNvSpPr/>
            <p:nvPr/>
          </p:nvSpPr>
          <p:spPr>
            <a:xfrm rot="-5400000">
              <a:off x="3501574" y="1934671"/>
              <a:ext cx="643356" cy="1419149"/>
            </a:xfrm>
            <a:prstGeom prst="flowChartOffpageConnector">
              <a:avLst/>
            </a:prstGeom>
            <a:solidFill>
              <a:srgbClr val="0B713F"/>
            </a:solidFill>
            <a:ln>
              <a:noFill/>
            </a:ln>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208" name="Google Shape;208;p19"/>
            <p:cNvSpPr/>
            <p:nvPr/>
          </p:nvSpPr>
          <p:spPr>
            <a:xfrm>
              <a:off x="2342625" y="2399951"/>
              <a:ext cx="1940700" cy="495900"/>
            </a:xfrm>
            <a:prstGeom prst="rect">
              <a:avLst/>
            </a:prstGeom>
            <a:noFill/>
            <a:ln>
              <a:noFill/>
            </a:ln>
          </p:spPr>
          <p:txBody>
            <a:bodyPr anchorCtr="0" anchor="ctr" bIns="126825" lIns="126825" spcFirstLastPara="1" rIns="126825" wrap="square" tIns="126825">
              <a:noAutofit/>
            </a:bodyPr>
            <a:lstStyle/>
            <a:p>
              <a:pPr indent="0" lvl="0" marL="0" rtl="0" algn="l">
                <a:lnSpc>
                  <a:spcPct val="115000"/>
                </a:lnSpc>
                <a:spcBef>
                  <a:spcPts val="0"/>
                </a:spcBef>
                <a:spcAft>
                  <a:spcPts val="0"/>
                </a:spcAft>
                <a:buNone/>
              </a:pPr>
              <a:r>
                <a:rPr lang="tr" sz="1387">
                  <a:solidFill>
                    <a:srgbClr val="FFFFFF"/>
                  </a:solidFill>
                  <a:latin typeface="Roboto Medium"/>
                  <a:ea typeface="Roboto Medium"/>
                  <a:cs typeface="Roboto Medium"/>
                  <a:sym typeface="Roboto Medium"/>
                </a:rPr>
                <a:t>AYRILIK</a:t>
              </a:r>
              <a:endParaRPr sz="1387">
                <a:solidFill>
                  <a:srgbClr val="FFFFFF"/>
                </a:solidFill>
                <a:latin typeface="Roboto"/>
                <a:ea typeface="Roboto"/>
                <a:cs typeface="Roboto"/>
                <a:sym typeface="Roboto"/>
              </a:endParaRPr>
            </a:p>
          </p:txBody>
        </p:sp>
        <p:sp>
          <p:nvSpPr>
            <p:cNvPr id="209" name="Google Shape;209;p19"/>
            <p:cNvSpPr/>
            <p:nvPr/>
          </p:nvSpPr>
          <p:spPr>
            <a:xfrm>
              <a:off x="1593000" y="2322568"/>
              <a:ext cx="690000" cy="642300"/>
            </a:xfrm>
            <a:prstGeom prst="rect">
              <a:avLst/>
            </a:prstGeom>
            <a:solidFill>
              <a:srgbClr val="0B7743"/>
            </a:solidFill>
            <a:ln>
              <a:noFill/>
            </a:ln>
            <a:effectLst>
              <a:outerShdw blurRad="99109" rotWithShape="0" algn="bl" dir="2700000" dist="39643">
                <a:srgbClr val="000000">
                  <a:alpha val="17000"/>
                </a:srgbClr>
              </a:outerShdw>
            </a:effectLst>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210" name="Google Shape;210;p19"/>
            <p:cNvSpPr/>
            <p:nvPr/>
          </p:nvSpPr>
          <p:spPr>
            <a:xfrm>
              <a:off x="1593000" y="2322575"/>
              <a:ext cx="690000" cy="642600"/>
            </a:xfrm>
            <a:prstGeom prst="rect">
              <a:avLst/>
            </a:prstGeom>
            <a:solidFill>
              <a:srgbClr val="0C8148"/>
            </a:solidFill>
            <a:ln>
              <a:noFill/>
            </a:ln>
          </p:spPr>
          <p:txBody>
            <a:bodyPr anchorCtr="0" anchor="ctr" bIns="126825" lIns="126825" spcFirstLastPara="1" rIns="126825" wrap="square" tIns="126825">
              <a:noAutofit/>
            </a:bodyPr>
            <a:lstStyle/>
            <a:p>
              <a:pPr indent="0" lvl="0" marL="0" rtl="0" algn="ctr">
                <a:spcBef>
                  <a:spcPts val="0"/>
                </a:spcBef>
                <a:spcAft>
                  <a:spcPts val="0"/>
                </a:spcAft>
                <a:buNone/>
              </a:pPr>
              <a:r>
                <a:rPr lang="tr" sz="3607">
                  <a:solidFill>
                    <a:srgbClr val="FFFFFF"/>
                  </a:solidFill>
                  <a:latin typeface="Roboto Thin"/>
                  <a:ea typeface="Roboto Thin"/>
                  <a:cs typeface="Roboto Thin"/>
                  <a:sym typeface="Roboto Thin"/>
                </a:rPr>
                <a:t>02</a:t>
              </a:r>
              <a:endParaRPr sz="3607">
                <a:solidFill>
                  <a:srgbClr val="FFFFFF"/>
                </a:solidFill>
                <a:latin typeface="Roboto Thin"/>
                <a:ea typeface="Roboto Thin"/>
                <a:cs typeface="Roboto Thin"/>
                <a:sym typeface="Roboto Thin"/>
              </a:endParaRPr>
            </a:p>
          </p:txBody>
        </p:sp>
        <p:sp>
          <p:nvSpPr>
            <p:cNvPr id="211" name="Google Shape;211;p19"/>
            <p:cNvSpPr/>
            <p:nvPr/>
          </p:nvSpPr>
          <p:spPr>
            <a:xfrm>
              <a:off x="4387850" y="2323750"/>
              <a:ext cx="2971200" cy="642300"/>
            </a:xfrm>
            <a:prstGeom prst="rect">
              <a:avLst/>
            </a:prstGeom>
            <a:noFill/>
            <a:ln>
              <a:noFill/>
            </a:ln>
          </p:spPr>
          <p:txBody>
            <a:bodyPr anchorCtr="0" anchor="ctr" bIns="126825" lIns="126825" spcFirstLastPara="1" rIns="126825" wrap="square" tIns="126825">
              <a:noAutofit/>
            </a:bodyPr>
            <a:lstStyle/>
            <a:p>
              <a:pPr indent="0" lvl="0" marL="634295" rtl="0" algn="l">
                <a:lnSpc>
                  <a:spcPct val="115000"/>
                </a:lnSpc>
                <a:spcBef>
                  <a:spcPts val="0"/>
                </a:spcBef>
                <a:spcAft>
                  <a:spcPts val="0"/>
                </a:spcAft>
                <a:buNone/>
              </a:pPr>
              <a:r>
                <a:t/>
              </a:r>
              <a:endParaRPr sz="1109">
                <a:solidFill>
                  <a:srgbClr val="0B713F"/>
                </a:solidFill>
                <a:latin typeface="Roboto"/>
                <a:ea typeface="Roboto"/>
                <a:cs typeface="Roboto"/>
                <a:sym typeface="Roboto"/>
              </a:endParaRPr>
            </a:p>
            <a:p>
              <a:pPr indent="-387625" lvl="0" marL="634295" rtl="0" algn="l">
                <a:lnSpc>
                  <a:spcPct val="115000"/>
                </a:lnSpc>
                <a:spcBef>
                  <a:spcPts val="0"/>
                </a:spcBef>
                <a:spcAft>
                  <a:spcPts val="0"/>
                </a:spcAft>
                <a:buClr>
                  <a:srgbClr val="0B713F"/>
                </a:buClr>
                <a:buSzPts val="1110"/>
                <a:buFont typeface="Roboto"/>
                <a:buChar char="●"/>
              </a:pPr>
              <a:r>
                <a:rPr lang="tr" sz="1109">
                  <a:solidFill>
                    <a:srgbClr val="0B713F"/>
                  </a:solidFill>
                  <a:latin typeface="Roboto"/>
                  <a:ea typeface="Roboto"/>
                  <a:cs typeface="Roboto"/>
                  <a:sym typeface="Roboto"/>
                </a:rPr>
                <a:t>Bir kümenin diğerlerinden ne kadar iyi ayrıldığını ölçer.</a:t>
              </a:r>
              <a:endParaRPr sz="1109">
                <a:solidFill>
                  <a:srgbClr val="0B713F"/>
                </a:solidFill>
                <a:latin typeface="Roboto"/>
                <a:ea typeface="Roboto"/>
                <a:cs typeface="Roboto"/>
                <a:sym typeface="Roboto"/>
              </a:endParaRPr>
            </a:p>
            <a:p>
              <a:pPr indent="-387625" lvl="0" marL="634295" rtl="0" algn="l">
                <a:lnSpc>
                  <a:spcPct val="115000"/>
                </a:lnSpc>
                <a:spcBef>
                  <a:spcPts val="0"/>
                </a:spcBef>
                <a:spcAft>
                  <a:spcPts val="0"/>
                </a:spcAft>
                <a:buClr>
                  <a:srgbClr val="0B713F"/>
                </a:buClr>
                <a:buSzPts val="1110"/>
                <a:buFont typeface="Roboto"/>
                <a:buChar char="●"/>
              </a:pPr>
              <a:r>
                <a:rPr lang="tr" sz="1109">
                  <a:solidFill>
                    <a:srgbClr val="0B713F"/>
                  </a:solidFill>
                  <a:latin typeface="Roboto"/>
                  <a:ea typeface="Roboto"/>
                  <a:cs typeface="Roboto"/>
                  <a:sym typeface="Roboto"/>
                </a:rPr>
                <a:t>Küme merkezleri arasındaki mesafeler, farklı kümelerdeki nesneler arası ikili minimum mesafeler kullanılan endekslerdir.</a:t>
              </a:r>
              <a:endParaRPr sz="1109">
                <a:solidFill>
                  <a:srgbClr val="0B713F"/>
                </a:solidFill>
                <a:latin typeface="Roboto"/>
                <a:ea typeface="Roboto"/>
                <a:cs typeface="Roboto"/>
                <a:sym typeface="Roboto"/>
              </a:endParaRPr>
            </a:p>
            <a:p>
              <a:pPr indent="0" lvl="0" marL="634295" rtl="0" algn="l">
                <a:lnSpc>
                  <a:spcPct val="115000"/>
                </a:lnSpc>
                <a:spcBef>
                  <a:spcPts val="0"/>
                </a:spcBef>
                <a:spcAft>
                  <a:spcPts val="0"/>
                </a:spcAft>
                <a:buNone/>
              </a:pPr>
              <a:r>
                <a:t/>
              </a:r>
              <a:endParaRPr sz="1109">
                <a:solidFill>
                  <a:srgbClr val="0B713F"/>
                </a:solidFill>
                <a:latin typeface="Roboto"/>
                <a:ea typeface="Roboto"/>
                <a:cs typeface="Roboto"/>
                <a:sym typeface="Roboto"/>
              </a:endParaRPr>
            </a:p>
          </p:txBody>
        </p:sp>
      </p:grpSp>
      <p:grpSp>
        <p:nvGrpSpPr>
          <p:cNvPr id="212" name="Google Shape;212;p19"/>
          <p:cNvGrpSpPr/>
          <p:nvPr/>
        </p:nvGrpSpPr>
        <p:grpSpPr>
          <a:xfrm>
            <a:off x="499171" y="1055483"/>
            <a:ext cx="8266095" cy="1206048"/>
            <a:chOff x="1593000" y="2322568"/>
            <a:chExt cx="5957975" cy="643500"/>
          </a:xfrm>
        </p:grpSpPr>
        <p:sp>
          <p:nvSpPr>
            <p:cNvPr id="213" name="Google Shape;213;p19"/>
            <p:cNvSpPr/>
            <p:nvPr/>
          </p:nvSpPr>
          <p:spPr>
            <a:xfrm>
              <a:off x="3728375" y="2322568"/>
              <a:ext cx="3822600" cy="643500"/>
            </a:xfrm>
            <a:prstGeom prst="rect">
              <a:avLst/>
            </a:prstGeom>
            <a:solidFill>
              <a:srgbClr val="EEEEEE"/>
            </a:solidFill>
            <a:ln>
              <a:noFill/>
            </a:ln>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214" name="Google Shape;214;p19"/>
            <p:cNvSpPr/>
            <p:nvPr/>
          </p:nvSpPr>
          <p:spPr>
            <a:xfrm flipH="1">
              <a:off x="2283025" y="2322575"/>
              <a:ext cx="1844400" cy="642600"/>
            </a:xfrm>
            <a:prstGeom prst="rect">
              <a:avLst/>
            </a:prstGeom>
            <a:solidFill>
              <a:srgbClr val="0B713F"/>
            </a:solidFill>
            <a:ln>
              <a:noFill/>
            </a:ln>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215" name="Google Shape;215;p19"/>
            <p:cNvSpPr/>
            <p:nvPr/>
          </p:nvSpPr>
          <p:spPr>
            <a:xfrm rot="-5400000">
              <a:off x="3501574" y="1934671"/>
              <a:ext cx="643356" cy="1419149"/>
            </a:xfrm>
            <a:prstGeom prst="flowChartOffpageConnector">
              <a:avLst/>
            </a:prstGeom>
            <a:solidFill>
              <a:srgbClr val="0B713F"/>
            </a:solidFill>
            <a:ln>
              <a:noFill/>
            </a:ln>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216" name="Google Shape;216;p19"/>
            <p:cNvSpPr/>
            <p:nvPr/>
          </p:nvSpPr>
          <p:spPr>
            <a:xfrm>
              <a:off x="2342625" y="2399951"/>
              <a:ext cx="1940700" cy="495900"/>
            </a:xfrm>
            <a:prstGeom prst="rect">
              <a:avLst/>
            </a:prstGeom>
            <a:noFill/>
            <a:ln>
              <a:noFill/>
            </a:ln>
          </p:spPr>
          <p:txBody>
            <a:bodyPr anchorCtr="0" anchor="ctr" bIns="126825" lIns="126825" spcFirstLastPara="1" rIns="126825" wrap="square" tIns="126825">
              <a:noAutofit/>
            </a:bodyPr>
            <a:lstStyle/>
            <a:p>
              <a:pPr indent="0" lvl="0" marL="0" rtl="0" algn="l">
                <a:lnSpc>
                  <a:spcPct val="115000"/>
                </a:lnSpc>
                <a:spcBef>
                  <a:spcPts val="0"/>
                </a:spcBef>
                <a:spcAft>
                  <a:spcPts val="0"/>
                </a:spcAft>
                <a:buNone/>
              </a:pPr>
              <a:r>
                <a:rPr lang="tr" sz="1387">
                  <a:solidFill>
                    <a:srgbClr val="FFFFFF"/>
                  </a:solidFill>
                  <a:latin typeface="Roboto Medium"/>
                  <a:ea typeface="Roboto Medium"/>
                  <a:cs typeface="Roboto Medium"/>
                  <a:sym typeface="Roboto Medium"/>
                </a:rPr>
                <a:t>SIKLIK</a:t>
              </a:r>
              <a:endParaRPr sz="1387">
                <a:solidFill>
                  <a:srgbClr val="FFFFFF"/>
                </a:solidFill>
                <a:latin typeface="Roboto"/>
                <a:ea typeface="Roboto"/>
                <a:cs typeface="Roboto"/>
                <a:sym typeface="Roboto"/>
              </a:endParaRPr>
            </a:p>
          </p:txBody>
        </p:sp>
        <p:sp>
          <p:nvSpPr>
            <p:cNvPr id="217" name="Google Shape;217;p19"/>
            <p:cNvSpPr/>
            <p:nvPr/>
          </p:nvSpPr>
          <p:spPr>
            <a:xfrm>
              <a:off x="1593000" y="2322568"/>
              <a:ext cx="690000" cy="642300"/>
            </a:xfrm>
            <a:prstGeom prst="rect">
              <a:avLst/>
            </a:prstGeom>
            <a:solidFill>
              <a:srgbClr val="0B7743"/>
            </a:solidFill>
            <a:ln>
              <a:noFill/>
            </a:ln>
            <a:effectLst>
              <a:outerShdw blurRad="99109" rotWithShape="0" algn="bl" dir="2700000" dist="39643">
                <a:srgbClr val="000000">
                  <a:alpha val="17000"/>
                </a:srgbClr>
              </a:outerShdw>
            </a:effectLst>
          </p:spPr>
          <p:txBody>
            <a:bodyPr anchorCtr="0" anchor="ctr" bIns="126825" lIns="126825" spcFirstLastPara="1" rIns="126825" wrap="square" tIns="126825">
              <a:noAutofit/>
            </a:bodyPr>
            <a:lstStyle/>
            <a:p>
              <a:pPr indent="0" lvl="0" marL="0" rtl="0" algn="l">
                <a:spcBef>
                  <a:spcPts val="0"/>
                </a:spcBef>
                <a:spcAft>
                  <a:spcPts val="0"/>
                </a:spcAft>
                <a:buNone/>
              </a:pPr>
              <a:r>
                <a:t/>
              </a:r>
              <a:endParaRPr/>
            </a:p>
          </p:txBody>
        </p:sp>
        <p:sp>
          <p:nvSpPr>
            <p:cNvPr id="218" name="Google Shape;218;p19"/>
            <p:cNvSpPr/>
            <p:nvPr/>
          </p:nvSpPr>
          <p:spPr>
            <a:xfrm>
              <a:off x="1593000" y="2322575"/>
              <a:ext cx="690000" cy="642600"/>
            </a:xfrm>
            <a:prstGeom prst="rect">
              <a:avLst/>
            </a:prstGeom>
            <a:solidFill>
              <a:srgbClr val="0C8148"/>
            </a:solidFill>
            <a:ln>
              <a:noFill/>
            </a:ln>
          </p:spPr>
          <p:txBody>
            <a:bodyPr anchorCtr="0" anchor="ctr" bIns="126825" lIns="126825" spcFirstLastPara="1" rIns="126825" wrap="square" tIns="126825">
              <a:noAutofit/>
            </a:bodyPr>
            <a:lstStyle/>
            <a:p>
              <a:pPr indent="0" lvl="0" marL="0" rtl="0" algn="ctr">
                <a:spcBef>
                  <a:spcPts val="0"/>
                </a:spcBef>
                <a:spcAft>
                  <a:spcPts val="0"/>
                </a:spcAft>
                <a:buNone/>
              </a:pPr>
              <a:r>
                <a:rPr lang="tr" sz="3607">
                  <a:solidFill>
                    <a:srgbClr val="FFFFFF"/>
                  </a:solidFill>
                  <a:latin typeface="Roboto Thin"/>
                  <a:ea typeface="Roboto Thin"/>
                  <a:cs typeface="Roboto Thin"/>
                  <a:sym typeface="Roboto Thin"/>
                </a:rPr>
                <a:t>01</a:t>
              </a:r>
              <a:endParaRPr sz="3607">
                <a:solidFill>
                  <a:srgbClr val="FFFFFF"/>
                </a:solidFill>
                <a:latin typeface="Roboto Thin"/>
                <a:ea typeface="Roboto Thin"/>
                <a:cs typeface="Roboto Thin"/>
                <a:sym typeface="Roboto Thin"/>
              </a:endParaRPr>
            </a:p>
          </p:txBody>
        </p:sp>
        <p:sp>
          <p:nvSpPr>
            <p:cNvPr id="219" name="Google Shape;219;p19"/>
            <p:cNvSpPr/>
            <p:nvPr/>
          </p:nvSpPr>
          <p:spPr>
            <a:xfrm>
              <a:off x="4387850" y="2323750"/>
              <a:ext cx="2971200" cy="642300"/>
            </a:xfrm>
            <a:prstGeom prst="rect">
              <a:avLst/>
            </a:prstGeom>
            <a:noFill/>
            <a:ln>
              <a:noFill/>
            </a:ln>
          </p:spPr>
          <p:txBody>
            <a:bodyPr anchorCtr="0" anchor="ctr" bIns="126825" lIns="126825" spcFirstLastPara="1" rIns="126825" wrap="square" tIns="126825">
              <a:noAutofit/>
            </a:bodyPr>
            <a:lstStyle/>
            <a:p>
              <a:pPr indent="-387625" lvl="0" marL="634295" rtl="0" algn="l">
                <a:lnSpc>
                  <a:spcPct val="115000"/>
                </a:lnSpc>
                <a:spcBef>
                  <a:spcPts val="0"/>
                </a:spcBef>
                <a:spcAft>
                  <a:spcPts val="0"/>
                </a:spcAft>
                <a:buClr>
                  <a:srgbClr val="0B713F"/>
                </a:buClr>
                <a:buSzPts val="1110"/>
                <a:buFont typeface="Roboto"/>
                <a:buChar char="●"/>
              </a:pPr>
              <a:r>
                <a:rPr lang="tr" sz="1109">
                  <a:solidFill>
                    <a:srgbClr val="0B713F"/>
                  </a:solidFill>
                  <a:latin typeface="Roboto"/>
                  <a:ea typeface="Roboto"/>
                  <a:cs typeface="Roboto"/>
                  <a:sym typeface="Roboto"/>
                </a:rPr>
                <a:t>Aynı küme içindeki nesnelerin ne kadar yakın olduğunu ölçer. </a:t>
              </a:r>
              <a:endParaRPr sz="1109">
                <a:solidFill>
                  <a:srgbClr val="0B713F"/>
                </a:solidFill>
                <a:latin typeface="Roboto"/>
                <a:ea typeface="Roboto"/>
                <a:cs typeface="Roboto"/>
                <a:sym typeface="Roboto"/>
              </a:endParaRPr>
            </a:p>
            <a:p>
              <a:pPr indent="-387625" lvl="0" marL="634295" rtl="0" algn="l">
                <a:lnSpc>
                  <a:spcPct val="115000"/>
                </a:lnSpc>
                <a:spcBef>
                  <a:spcPts val="0"/>
                </a:spcBef>
                <a:spcAft>
                  <a:spcPts val="0"/>
                </a:spcAft>
                <a:buClr>
                  <a:srgbClr val="0B713F"/>
                </a:buClr>
                <a:buSzPts val="1110"/>
                <a:buFont typeface="Roboto"/>
                <a:buChar char="●"/>
              </a:pPr>
              <a:r>
                <a:rPr lang="tr" sz="1109">
                  <a:solidFill>
                    <a:srgbClr val="0B713F"/>
                  </a:solidFill>
                  <a:latin typeface="Roboto"/>
                  <a:ea typeface="Roboto"/>
                  <a:cs typeface="Roboto"/>
                  <a:sym typeface="Roboto"/>
                </a:rPr>
                <a:t>Küme içi varyasyonun düşük olması iyi sıklığın göstergesidir.</a:t>
              </a:r>
              <a:endParaRPr sz="1109">
                <a:solidFill>
                  <a:srgbClr val="0B713F"/>
                </a:solidFill>
                <a:latin typeface="Roboto"/>
                <a:ea typeface="Roboto"/>
                <a:cs typeface="Roboto"/>
                <a:sym typeface="Roboto"/>
              </a:endParaRPr>
            </a:p>
            <a:p>
              <a:pPr indent="-387625" lvl="0" marL="634295" rtl="0" algn="l">
                <a:lnSpc>
                  <a:spcPct val="115000"/>
                </a:lnSpc>
                <a:spcBef>
                  <a:spcPts val="0"/>
                </a:spcBef>
                <a:spcAft>
                  <a:spcPts val="0"/>
                </a:spcAft>
                <a:buClr>
                  <a:srgbClr val="0B713F"/>
                </a:buClr>
                <a:buSzPts val="1110"/>
                <a:buFont typeface="Roboto"/>
                <a:buChar char="●"/>
              </a:pPr>
              <a:r>
                <a:rPr lang="tr" sz="1109">
                  <a:solidFill>
                    <a:srgbClr val="0B713F"/>
                  </a:solidFill>
                  <a:latin typeface="Roboto"/>
                  <a:ea typeface="Roboto"/>
                  <a:cs typeface="Roboto"/>
                  <a:sym typeface="Roboto"/>
                </a:rPr>
                <a:t>Sıklığı değerlendirmek için gözlemler arasındaki ortalama, medyan gibi ölçütlere bakılır.</a:t>
              </a:r>
              <a:endParaRPr sz="1109">
                <a:solidFill>
                  <a:srgbClr val="0B713F"/>
                </a:solidFill>
                <a:latin typeface="Roboto"/>
                <a:ea typeface="Roboto"/>
                <a:cs typeface="Roboto"/>
                <a:sym typeface="Roboto"/>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a:t>Silüet Katsayısı</a:t>
            </a:r>
            <a:endParaRPr/>
          </a:p>
        </p:txBody>
      </p:sp>
      <p:sp>
        <p:nvSpPr>
          <p:cNvPr id="225" name="Google Shape;225;p20"/>
          <p:cNvSpPr txBox="1"/>
          <p:nvPr>
            <p:ph idx="1" type="body"/>
          </p:nvPr>
        </p:nvSpPr>
        <p:spPr>
          <a:xfrm>
            <a:off x="1125300" y="1867075"/>
            <a:ext cx="6893400" cy="2445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sz="1500">
                <a:latin typeface="Montserrat"/>
                <a:ea typeface="Montserrat"/>
                <a:cs typeface="Montserrat"/>
                <a:sym typeface="Montserrat"/>
              </a:rPr>
              <a:t> Siluet analizi, bir gözlemin ne kadar iyi kümelendiğini ölçer ve kümeler arasındaki ortalama mesafeyi tahmin eder.</a:t>
            </a:r>
            <a:endParaRPr sz="1500">
              <a:latin typeface="Montserrat"/>
              <a:ea typeface="Montserrat"/>
              <a:cs typeface="Montserrat"/>
              <a:sym typeface="Montserrat"/>
            </a:endParaRPr>
          </a:p>
          <a:p>
            <a:pPr indent="0" lvl="0" marL="0" rtl="0" algn="l">
              <a:spcBef>
                <a:spcPts val="0"/>
              </a:spcBef>
              <a:spcAft>
                <a:spcPts val="0"/>
              </a:spcAft>
              <a:buNone/>
            </a:pPr>
            <a:r>
              <a:t/>
            </a:r>
            <a:endParaRPr sz="1500">
              <a:latin typeface="Montserrat"/>
              <a:ea typeface="Montserrat"/>
              <a:cs typeface="Montserrat"/>
              <a:sym typeface="Montserrat"/>
            </a:endParaRPr>
          </a:p>
          <a:p>
            <a:pPr indent="0" lvl="0" marL="0" rtl="0" algn="l">
              <a:spcBef>
                <a:spcPts val="0"/>
              </a:spcBef>
              <a:spcAft>
                <a:spcPts val="0"/>
              </a:spcAft>
              <a:buNone/>
            </a:pPr>
            <a:r>
              <a:rPr lang="tr" sz="1500">
                <a:latin typeface="Montserrat"/>
                <a:ea typeface="Montserrat"/>
                <a:cs typeface="Montserrat"/>
                <a:sym typeface="Montserrat"/>
              </a:rPr>
              <a:t> Siluet grafiği, bir kümedeki her bir noktanın komşu kümelerdeki noktalara ne kadar yakın olduğunu gösteren bir ölçü gösterir.</a:t>
            </a:r>
            <a:endParaRPr sz="1500">
              <a:latin typeface="Montserrat"/>
              <a:ea typeface="Montserrat"/>
              <a:cs typeface="Montserrat"/>
              <a:sym typeface="Montserrat"/>
            </a:endParaRPr>
          </a:p>
          <a:p>
            <a:pPr indent="0" lvl="0" marL="0" rtl="0" algn="l">
              <a:spcBef>
                <a:spcPts val="0"/>
              </a:spcBef>
              <a:spcAft>
                <a:spcPts val="0"/>
              </a:spcAft>
              <a:buNone/>
            </a:pPr>
            <a:r>
              <a:t/>
            </a:r>
            <a:endParaRPr sz="1500">
              <a:latin typeface="Montserrat"/>
              <a:ea typeface="Montserrat"/>
              <a:cs typeface="Montserrat"/>
              <a:sym typeface="Montserrat"/>
            </a:endParaRPr>
          </a:p>
          <a:p>
            <a:pPr indent="0" lvl="0" marL="0" rtl="0" algn="l">
              <a:spcBef>
                <a:spcPts val="0"/>
              </a:spcBef>
              <a:spcAft>
                <a:spcPts val="0"/>
              </a:spcAft>
              <a:buNone/>
            </a:pPr>
            <a:r>
              <a:t/>
            </a:r>
            <a:endParaRPr sz="1500">
              <a:latin typeface="Montserrat"/>
              <a:ea typeface="Montserrat"/>
              <a:cs typeface="Montserrat"/>
              <a:sym typeface="Montserrat"/>
            </a:endParaRPr>
          </a:p>
        </p:txBody>
      </p:sp>
      <p:pic>
        <p:nvPicPr>
          <p:cNvPr id="226" name="Google Shape;226;p20" title="Ekran Resmi 2025-12-18 21.31.25.png"/>
          <p:cNvPicPr preferRelativeResize="0"/>
          <p:nvPr/>
        </p:nvPicPr>
        <p:blipFill>
          <a:blip r:embed="rId3">
            <a:alphaModFix/>
          </a:blip>
          <a:stretch>
            <a:fillRect/>
          </a:stretch>
        </p:blipFill>
        <p:spPr>
          <a:xfrm>
            <a:off x="5430175" y="694900"/>
            <a:ext cx="3207925" cy="1052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1"/>
          <p:cNvSpPr txBox="1"/>
          <p:nvPr>
            <p:ph type="title"/>
          </p:nvPr>
        </p:nvSpPr>
        <p:spPr>
          <a:xfrm>
            <a:off x="1285450" y="357625"/>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a:t>Dunn İndeksi</a:t>
            </a:r>
            <a:endParaRPr/>
          </a:p>
        </p:txBody>
      </p:sp>
      <p:sp>
        <p:nvSpPr>
          <p:cNvPr id="232" name="Google Shape;232;p21"/>
          <p:cNvSpPr txBox="1"/>
          <p:nvPr>
            <p:ph idx="1" type="body"/>
          </p:nvPr>
        </p:nvSpPr>
        <p:spPr>
          <a:xfrm>
            <a:off x="281625" y="915475"/>
            <a:ext cx="6259200" cy="409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r" sz="1500">
                <a:highlight>
                  <a:srgbClr val="1F1F1F"/>
                </a:highlight>
                <a:latin typeface="Montserrat"/>
                <a:ea typeface="Montserrat"/>
                <a:cs typeface="Montserrat"/>
                <a:sym typeface="Montserrat"/>
              </a:rPr>
              <a:t>  Joseph C. Dunn tarafından 1974 yılında tanıtılan Dunn endeksi, </a:t>
            </a:r>
            <a:r>
              <a:rPr lang="tr" sz="1500">
                <a:latin typeface="Montserrat"/>
                <a:ea typeface="Montserrat"/>
                <a:cs typeface="Montserrat"/>
                <a:sym typeface="Montserrat"/>
              </a:rPr>
              <a:t>kümeleme analizinde kümelerin ne kadar iyi ayrıştığını ve kendi içinde ne kadar kompakt olduğunu ölçen bir iç kümeleme ölçütüdür.</a:t>
            </a:r>
            <a:endParaRPr sz="1500">
              <a:latin typeface="Montserrat"/>
              <a:ea typeface="Montserrat"/>
              <a:cs typeface="Montserrat"/>
              <a:sym typeface="Montserrat"/>
            </a:endParaRPr>
          </a:p>
          <a:p>
            <a:pPr indent="0" lvl="0" marL="0" rtl="0" algn="l">
              <a:spcBef>
                <a:spcPts val="1200"/>
              </a:spcBef>
              <a:spcAft>
                <a:spcPts val="0"/>
              </a:spcAft>
              <a:buNone/>
            </a:pPr>
            <a:r>
              <a:rPr lang="tr" sz="1500">
                <a:latin typeface="Montserrat"/>
                <a:ea typeface="Montserrat"/>
                <a:cs typeface="Montserrat"/>
                <a:sym typeface="Montserrat"/>
              </a:rPr>
              <a:t>Uygulanması:</a:t>
            </a:r>
            <a:endParaRPr sz="1500">
              <a:latin typeface="Montserrat"/>
              <a:ea typeface="Montserrat"/>
              <a:cs typeface="Montserrat"/>
              <a:sym typeface="Montserrat"/>
            </a:endParaRPr>
          </a:p>
          <a:p>
            <a:pPr indent="0" lvl="0" marL="0" rtl="0" algn="l">
              <a:spcBef>
                <a:spcPts val="1200"/>
              </a:spcBef>
              <a:spcAft>
                <a:spcPts val="0"/>
              </a:spcAft>
              <a:buNone/>
            </a:pPr>
            <a:r>
              <a:rPr lang="tr" sz="1500">
                <a:latin typeface="Montserrat"/>
                <a:ea typeface="Montserrat"/>
                <a:cs typeface="Montserrat"/>
                <a:sym typeface="Montserrat"/>
              </a:rPr>
              <a:t>1. Her küme için, kümedeki nesneler ile diğer kümelerdeki nesneler arasındaki mesafe hesaplanır..</a:t>
            </a:r>
            <a:endParaRPr sz="1500">
              <a:latin typeface="Montserrat"/>
              <a:ea typeface="Montserrat"/>
              <a:cs typeface="Montserrat"/>
              <a:sym typeface="Montserrat"/>
            </a:endParaRPr>
          </a:p>
          <a:p>
            <a:pPr indent="0" lvl="0" marL="0" rtl="0" algn="l">
              <a:spcBef>
                <a:spcPts val="0"/>
              </a:spcBef>
              <a:spcAft>
                <a:spcPts val="0"/>
              </a:spcAft>
              <a:buNone/>
            </a:pPr>
            <a:r>
              <a:rPr lang="tr" sz="1500">
                <a:latin typeface="Montserrat"/>
                <a:ea typeface="Montserrat"/>
                <a:cs typeface="Montserrat"/>
                <a:sym typeface="Montserrat"/>
              </a:rPr>
              <a:t>2. Bu ikili mesafenin minimum değerini kümeler arası ayrım olarak kullanılır.</a:t>
            </a:r>
            <a:endParaRPr sz="1500">
              <a:latin typeface="Montserrat"/>
              <a:ea typeface="Montserrat"/>
              <a:cs typeface="Montserrat"/>
              <a:sym typeface="Montserrat"/>
            </a:endParaRPr>
          </a:p>
          <a:p>
            <a:pPr indent="0" lvl="0" marL="0" rtl="0" algn="l">
              <a:spcBef>
                <a:spcPts val="0"/>
              </a:spcBef>
              <a:spcAft>
                <a:spcPts val="0"/>
              </a:spcAft>
              <a:buNone/>
            </a:pPr>
            <a:r>
              <a:rPr lang="tr" sz="1500">
                <a:latin typeface="Montserrat"/>
                <a:ea typeface="Montserrat"/>
                <a:cs typeface="Montserrat"/>
                <a:sym typeface="Montserrat"/>
              </a:rPr>
              <a:t>(min.separation)</a:t>
            </a:r>
            <a:endParaRPr sz="1500">
              <a:latin typeface="Montserrat"/>
              <a:ea typeface="Montserrat"/>
              <a:cs typeface="Montserrat"/>
              <a:sym typeface="Montserrat"/>
            </a:endParaRPr>
          </a:p>
          <a:p>
            <a:pPr indent="0" lvl="0" marL="0" rtl="0" algn="l">
              <a:spcBef>
                <a:spcPts val="0"/>
              </a:spcBef>
              <a:spcAft>
                <a:spcPts val="0"/>
              </a:spcAft>
              <a:buNone/>
            </a:pPr>
            <a:r>
              <a:rPr lang="tr" sz="1500">
                <a:latin typeface="Montserrat"/>
                <a:ea typeface="Montserrat"/>
                <a:cs typeface="Montserrat"/>
                <a:sym typeface="Montserrat"/>
              </a:rPr>
              <a:t>3. Her küme için, aynı kümedeki nesneler arasındaki mesafe hesaplanır.</a:t>
            </a:r>
            <a:endParaRPr sz="1500">
              <a:latin typeface="Montserrat"/>
              <a:ea typeface="Montserrat"/>
              <a:cs typeface="Montserrat"/>
              <a:sym typeface="Montserrat"/>
            </a:endParaRPr>
          </a:p>
          <a:p>
            <a:pPr indent="0" lvl="0" marL="0" rtl="0" algn="l">
              <a:spcBef>
                <a:spcPts val="0"/>
              </a:spcBef>
              <a:spcAft>
                <a:spcPts val="0"/>
              </a:spcAft>
              <a:buNone/>
            </a:pPr>
            <a:r>
              <a:rPr lang="tr" sz="1500">
                <a:latin typeface="Montserrat"/>
                <a:ea typeface="Montserrat"/>
                <a:cs typeface="Montserrat"/>
                <a:sym typeface="Montserrat"/>
              </a:rPr>
              <a:t>4. Maksimum küme içi mesafeyi (max.diameter) küme içi yoğunluk olarak kullanılır.</a:t>
            </a:r>
            <a:endParaRPr sz="1500">
              <a:latin typeface="Montserrat"/>
              <a:ea typeface="Montserrat"/>
              <a:cs typeface="Montserrat"/>
              <a:sym typeface="Montserrat"/>
            </a:endParaRPr>
          </a:p>
          <a:p>
            <a:pPr indent="0" lvl="0" marL="0" rtl="0" algn="l">
              <a:spcBef>
                <a:spcPts val="0"/>
              </a:spcBef>
              <a:spcAft>
                <a:spcPts val="0"/>
              </a:spcAft>
              <a:buNone/>
            </a:pPr>
            <a:r>
              <a:t/>
            </a:r>
            <a:endParaRPr sz="1500">
              <a:latin typeface="Montserrat"/>
              <a:ea typeface="Montserrat"/>
              <a:cs typeface="Montserrat"/>
              <a:sym typeface="Montserrat"/>
            </a:endParaRPr>
          </a:p>
          <a:p>
            <a:pPr indent="0" lvl="0" marL="0" rtl="0" algn="l">
              <a:spcBef>
                <a:spcPts val="0"/>
              </a:spcBef>
              <a:spcAft>
                <a:spcPts val="0"/>
              </a:spcAft>
              <a:buNone/>
            </a:pPr>
            <a:r>
              <a:t/>
            </a:r>
            <a:endParaRPr sz="1500">
              <a:latin typeface="Montserrat"/>
              <a:ea typeface="Montserrat"/>
              <a:cs typeface="Montserrat"/>
              <a:sym typeface="Montserrat"/>
            </a:endParaRPr>
          </a:p>
          <a:p>
            <a:pPr indent="0" lvl="0" marL="0" rtl="0" algn="l">
              <a:spcBef>
                <a:spcPts val="1200"/>
              </a:spcBef>
              <a:spcAft>
                <a:spcPts val="1200"/>
              </a:spcAft>
              <a:buNone/>
            </a:pPr>
            <a:r>
              <a:t/>
            </a:r>
            <a:endParaRPr sz="1500">
              <a:highlight>
                <a:srgbClr val="1F1F1F"/>
              </a:highlight>
              <a:latin typeface="Montserrat"/>
              <a:ea typeface="Montserrat"/>
              <a:cs typeface="Montserrat"/>
              <a:sym typeface="Montserrat"/>
            </a:endParaRPr>
          </a:p>
        </p:txBody>
      </p:sp>
      <p:pic>
        <p:nvPicPr>
          <p:cNvPr id="233" name="Google Shape;233;p21" title="Ekran Resmi 2025-12-18 21.56.08.png"/>
          <p:cNvPicPr preferRelativeResize="0"/>
          <p:nvPr/>
        </p:nvPicPr>
        <p:blipFill>
          <a:blip r:embed="rId3">
            <a:alphaModFix/>
          </a:blip>
          <a:stretch>
            <a:fillRect/>
          </a:stretch>
        </p:blipFill>
        <p:spPr>
          <a:xfrm>
            <a:off x="6519575" y="3852425"/>
            <a:ext cx="2137675" cy="700625"/>
          </a:xfrm>
          <a:prstGeom prst="rect">
            <a:avLst/>
          </a:prstGeom>
          <a:noFill/>
          <a:ln>
            <a:noFill/>
          </a:ln>
        </p:spPr>
      </p:pic>
      <p:pic>
        <p:nvPicPr>
          <p:cNvPr id="234" name="Google Shape;234;p21" title="Ekran Resmi 2025-12-18 22.23.09.png"/>
          <p:cNvPicPr preferRelativeResize="0"/>
          <p:nvPr/>
        </p:nvPicPr>
        <p:blipFill>
          <a:blip r:embed="rId4">
            <a:alphaModFix/>
          </a:blip>
          <a:stretch>
            <a:fillRect/>
          </a:stretch>
        </p:blipFill>
        <p:spPr>
          <a:xfrm>
            <a:off x="6094400" y="1336875"/>
            <a:ext cx="2988026" cy="1917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2"/>
          <p:cNvSpPr txBox="1"/>
          <p:nvPr>
            <p:ph type="title"/>
          </p:nvPr>
        </p:nvSpPr>
        <p:spPr>
          <a:xfrm>
            <a:off x="1148100" y="26910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sz="3000"/>
              <a:t>External Clustering Validation</a:t>
            </a:r>
            <a:endParaRPr sz="3000"/>
          </a:p>
        </p:txBody>
      </p:sp>
      <p:sp>
        <p:nvSpPr>
          <p:cNvPr id="240" name="Google Shape;240;p22"/>
          <p:cNvSpPr txBox="1"/>
          <p:nvPr>
            <p:ph idx="1" type="body"/>
          </p:nvPr>
        </p:nvSpPr>
        <p:spPr>
          <a:xfrm>
            <a:off x="810800" y="1183200"/>
            <a:ext cx="7038900" cy="2911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tr">
                <a:latin typeface="Montserrat"/>
                <a:ea typeface="Montserrat"/>
                <a:cs typeface="Montserrat"/>
                <a:sym typeface="Montserrat"/>
              </a:rPr>
              <a:t>External Clustering Validation (Harici Kümeleme Doğrulaması)</a:t>
            </a:r>
            <a:r>
              <a:rPr lang="tr">
                <a:latin typeface="Montserrat"/>
                <a:ea typeface="Montserrat"/>
                <a:cs typeface="Montserrat"/>
                <a:sym typeface="Montserrat"/>
              </a:rPr>
              <a:t>, bir kümeleme algoritmasının performansını, verinin daha önceden bilinen ancak algoritmadan gizlenen "gerçek" sınıf etiketleriyle (</a:t>
            </a:r>
            <a:r>
              <a:rPr b="1" lang="tr">
                <a:latin typeface="Montserrat"/>
                <a:ea typeface="Montserrat"/>
                <a:cs typeface="Montserrat"/>
                <a:sym typeface="Montserrat"/>
              </a:rPr>
              <a:t>ground truth</a:t>
            </a:r>
            <a:r>
              <a:rPr lang="tr">
                <a:latin typeface="Montserrat"/>
                <a:ea typeface="Montserrat"/>
                <a:cs typeface="Montserrat"/>
                <a:sym typeface="Montserrat"/>
              </a:rPr>
              <a:t>) kıyaslayarak ölçme sürecidir.</a:t>
            </a:r>
            <a:endParaRPr>
              <a:latin typeface="Montserrat"/>
              <a:ea typeface="Montserrat"/>
              <a:cs typeface="Montserrat"/>
              <a:sym typeface="Montserrat"/>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241" name="Google Shape;241;p22"/>
          <p:cNvSpPr txBox="1"/>
          <p:nvPr/>
        </p:nvSpPr>
        <p:spPr>
          <a:xfrm>
            <a:off x="678325" y="2571750"/>
            <a:ext cx="4672200" cy="199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tr" sz="1700">
                <a:solidFill>
                  <a:schemeClr val="lt1"/>
                </a:solidFill>
                <a:latin typeface="Montserrat"/>
                <a:ea typeface="Montserrat"/>
                <a:cs typeface="Montserrat"/>
                <a:sym typeface="Montserrat"/>
              </a:rPr>
              <a:t>T</a:t>
            </a:r>
            <a:r>
              <a:rPr b="1" lang="tr" sz="1700">
                <a:solidFill>
                  <a:schemeClr val="lt1"/>
                </a:solidFill>
                <a:latin typeface="Montserrat"/>
                <a:ea typeface="Montserrat"/>
                <a:cs typeface="Montserrat"/>
                <a:sym typeface="Montserrat"/>
              </a:rPr>
              <a:t>emel Mantık</a:t>
            </a:r>
            <a:endParaRPr b="1" sz="1700">
              <a:solidFill>
                <a:schemeClr val="lt1"/>
              </a:solidFill>
              <a:latin typeface="Montserrat"/>
              <a:ea typeface="Montserrat"/>
              <a:cs typeface="Montserrat"/>
              <a:sym typeface="Montserrat"/>
            </a:endParaRPr>
          </a:p>
          <a:p>
            <a:pPr indent="0" lvl="0" marL="0" rtl="0" algn="l">
              <a:lnSpc>
                <a:spcPct val="115000"/>
              </a:lnSpc>
              <a:spcBef>
                <a:spcPts val="1200"/>
              </a:spcBef>
              <a:spcAft>
                <a:spcPts val="1200"/>
              </a:spcAft>
              <a:buNone/>
            </a:pPr>
            <a:r>
              <a:rPr lang="tr" sz="1300">
                <a:solidFill>
                  <a:schemeClr val="lt1"/>
                </a:solidFill>
                <a:latin typeface="Montserrat"/>
                <a:ea typeface="Montserrat"/>
                <a:cs typeface="Montserrat"/>
                <a:sym typeface="Montserrat"/>
              </a:rPr>
              <a:t>Algoritma veriyi kendi benzerlik kriterlerine (mesafe, yoğunluk vb.) göre gruplar. Harici doğrulama ise bu grupların, insanların veya uzmanların daha önce tanımladığı sınıflara ne kadar sadık kaldığını test eder. Bir nevi, algoritmanın yaptığı gruplandırmayı bir "cevap anahtarı" ile kontrol etmektir.</a:t>
            </a:r>
            <a:endParaRPr sz="1300">
              <a:solidFill>
                <a:schemeClr val="lt1"/>
              </a:solidFill>
              <a:latin typeface="Montserrat"/>
              <a:ea typeface="Montserrat"/>
              <a:cs typeface="Montserrat"/>
              <a:sym typeface="Montserrat"/>
            </a:endParaRPr>
          </a:p>
        </p:txBody>
      </p:sp>
      <p:pic>
        <p:nvPicPr>
          <p:cNvPr id="242" name="Google Shape;242;p22" title="widm1444-toc-0001-m.jpg"/>
          <p:cNvPicPr preferRelativeResize="0"/>
          <p:nvPr/>
        </p:nvPicPr>
        <p:blipFill>
          <a:blip r:embed="rId3">
            <a:alphaModFix/>
          </a:blip>
          <a:stretch>
            <a:fillRect/>
          </a:stretch>
        </p:blipFill>
        <p:spPr>
          <a:xfrm>
            <a:off x="5459100" y="2389875"/>
            <a:ext cx="3600825" cy="2529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3"/>
          <p:cNvSpPr txBox="1"/>
          <p:nvPr>
            <p:ph type="title"/>
          </p:nvPr>
        </p:nvSpPr>
        <p:spPr>
          <a:xfrm>
            <a:off x="1622750" y="33125"/>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sz="3500"/>
              <a:t>Ölçütleri</a:t>
            </a:r>
            <a:endParaRPr sz="3500"/>
          </a:p>
        </p:txBody>
      </p:sp>
      <p:sp>
        <p:nvSpPr>
          <p:cNvPr id="248" name="Google Shape;248;p23"/>
          <p:cNvSpPr txBox="1"/>
          <p:nvPr>
            <p:ph idx="1" type="body"/>
          </p:nvPr>
        </p:nvSpPr>
        <p:spPr>
          <a:xfrm>
            <a:off x="153150" y="3160775"/>
            <a:ext cx="4245900" cy="1903200"/>
          </a:xfrm>
          <a:prstGeom prst="rect">
            <a:avLst/>
          </a:prstGeom>
        </p:spPr>
        <p:txBody>
          <a:bodyPr anchorCtr="0" anchor="t" bIns="91425" lIns="91425" spcFirstLastPara="1" rIns="91425" wrap="square" tIns="91425">
            <a:normAutofit fontScale="77500" lnSpcReduction="20000"/>
          </a:bodyPr>
          <a:lstStyle/>
          <a:p>
            <a:pPr indent="0" lvl="0" marL="0" rtl="0" algn="l">
              <a:spcBef>
                <a:spcPts val="1400"/>
              </a:spcBef>
              <a:spcAft>
                <a:spcPts val="0"/>
              </a:spcAft>
              <a:buNone/>
            </a:pPr>
            <a:r>
              <a:rPr b="1" lang="tr" sz="1652">
                <a:latin typeface="Montserrat"/>
                <a:ea typeface="Montserrat"/>
                <a:cs typeface="Montserrat"/>
                <a:sym typeface="Montserrat"/>
              </a:rPr>
              <a:t>2. Adjusted Rand Index (ARI)</a:t>
            </a:r>
            <a:endParaRPr b="1" sz="1652">
              <a:latin typeface="Montserrat"/>
              <a:ea typeface="Montserrat"/>
              <a:cs typeface="Montserrat"/>
              <a:sym typeface="Montserrat"/>
            </a:endParaRPr>
          </a:p>
          <a:p>
            <a:pPr indent="0" lvl="0" marL="0" rtl="0" algn="l">
              <a:spcBef>
                <a:spcPts val="1200"/>
              </a:spcBef>
              <a:spcAft>
                <a:spcPts val="0"/>
              </a:spcAft>
              <a:buNone/>
            </a:pPr>
            <a:r>
              <a:rPr lang="tr" sz="1100">
                <a:latin typeface="Montserrat"/>
                <a:ea typeface="Montserrat"/>
                <a:cs typeface="Montserrat"/>
                <a:sym typeface="Montserrat"/>
              </a:rPr>
              <a:t>Rand Index’in </a:t>
            </a:r>
            <a:r>
              <a:rPr b="1" lang="tr" sz="1100">
                <a:latin typeface="Montserrat"/>
                <a:ea typeface="Montserrat"/>
                <a:cs typeface="Montserrat"/>
                <a:sym typeface="Montserrat"/>
              </a:rPr>
              <a:t>şansa göre düzeltilmiş</a:t>
            </a:r>
            <a:r>
              <a:rPr lang="tr" sz="1100">
                <a:latin typeface="Montserrat"/>
                <a:ea typeface="Montserrat"/>
                <a:cs typeface="Montserrat"/>
                <a:sym typeface="Montserrat"/>
              </a:rPr>
              <a:t> halidir ve rastgele eşleşmeleri elimine eder.</a:t>
            </a:r>
            <a:endParaRPr sz="1100">
              <a:latin typeface="Montserrat"/>
              <a:ea typeface="Montserrat"/>
              <a:cs typeface="Montserrat"/>
              <a:sym typeface="Montserrat"/>
            </a:endParaRPr>
          </a:p>
          <a:p>
            <a:pPr indent="0" lvl="0" marL="0" rtl="0" algn="l">
              <a:spcBef>
                <a:spcPts val="1200"/>
              </a:spcBef>
              <a:spcAft>
                <a:spcPts val="0"/>
              </a:spcAft>
              <a:buNone/>
            </a:pPr>
            <a:br>
              <a:rPr b="1" lang="tr" sz="1100">
                <a:latin typeface="Montserrat"/>
                <a:ea typeface="Montserrat"/>
                <a:cs typeface="Montserrat"/>
                <a:sym typeface="Montserrat"/>
              </a:rPr>
            </a:br>
            <a:endParaRPr b="1" sz="1100">
              <a:latin typeface="Montserrat"/>
              <a:ea typeface="Montserrat"/>
              <a:cs typeface="Montserrat"/>
              <a:sym typeface="Montserrat"/>
            </a:endParaRPr>
          </a:p>
          <a:p>
            <a:pPr indent="-282733" lvl="0" marL="457200" rtl="0" algn="l">
              <a:spcBef>
                <a:spcPts val="1200"/>
              </a:spcBef>
              <a:spcAft>
                <a:spcPts val="0"/>
              </a:spcAft>
              <a:buClr>
                <a:schemeClr val="lt1"/>
              </a:buClr>
              <a:buSzPct val="100000"/>
              <a:buFont typeface="Arial"/>
              <a:buChar char="●"/>
            </a:pPr>
            <a:r>
              <a:rPr lang="tr" sz="1100">
                <a:latin typeface="Montserrat"/>
                <a:ea typeface="Montserrat"/>
                <a:cs typeface="Montserrat"/>
                <a:sym typeface="Montserrat"/>
              </a:rPr>
              <a:t>1’e yaklaştıkça → mükemmel uyum</a:t>
            </a:r>
            <a:br>
              <a:rPr lang="tr" sz="1100">
                <a:latin typeface="Montserrat"/>
                <a:ea typeface="Montserrat"/>
                <a:cs typeface="Montserrat"/>
                <a:sym typeface="Montserrat"/>
              </a:rPr>
            </a:br>
            <a:r>
              <a:rPr lang="tr" sz="1100">
                <a:latin typeface="Montserrat"/>
                <a:ea typeface="Montserrat"/>
                <a:cs typeface="Montserrat"/>
                <a:sym typeface="Montserrat"/>
              </a:rPr>
              <a:t> 📌 Akademik çalışmalarda </a:t>
            </a:r>
            <a:r>
              <a:rPr b="1" lang="tr" sz="1100">
                <a:latin typeface="Montserrat"/>
                <a:ea typeface="Montserrat"/>
                <a:cs typeface="Montserrat"/>
                <a:sym typeface="Montserrat"/>
              </a:rPr>
              <a:t>en çok tercih edilen</a:t>
            </a:r>
            <a:r>
              <a:rPr lang="tr" sz="1100">
                <a:latin typeface="Montserrat"/>
                <a:ea typeface="Montserrat"/>
                <a:cs typeface="Montserrat"/>
                <a:sym typeface="Montserrat"/>
              </a:rPr>
              <a:t> ölçüttür.</a:t>
            </a:r>
            <a:endParaRPr sz="1100">
              <a:latin typeface="Montserrat"/>
              <a:ea typeface="Montserrat"/>
              <a:cs typeface="Montserrat"/>
              <a:sym typeface="Montserrat"/>
            </a:endParaRPr>
          </a:p>
          <a:p>
            <a:pPr indent="0" lvl="0" marL="0" rtl="0" algn="l">
              <a:spcBef>
                <a:spcPts val="1200"/>
              </a:spcBef>
              <a:spcAft>
                <a:spcPts val="1200"/>
              </a:spcAft>
              <a:buNone/>
            </a:pPr>
            <a:r>
              <a:t/>
            </a:r>
            <a:endParaRPr/>
          </a:p>
        </p:txBody>
      </p:sp>
      <p:pic>
        <p:nvPicPr>
          <p:cNvPr id="249" name="Google Shape;249;p23" title="Code_Generated_Image (15)aaa.png"/>
          <p:cNvPicPr preferRelativeResize="0"/>
          <p:nvPr/>
        </p:nvPicPr>
        <p:blipFill>
          <a:blip r:embed="rId3">
            <a:alphaModFix/>
          </a:blip>
          <a:stretch>
            <a:fillRect/>
          </a:stretch>
        </p:blipFill>
        <p:spPr>
          <a:xfrm>
            <a:off x="4989325" y="3160775"/>
            <a:ext cx="3851700" cy="1903200"/>
          </a:xfrm>
          <a:prstGeom prst="rect">
            <a:avLst/>
          </a:prstGeom>
          <a:noFill/>
          <a:ln>
            <a:noFill/>
          </a:ln>
        </p:spPr>
      </p:pic>
      <p:pic>
        <p:nvPicPr>
          <p:cNvPr id="250" name="Google Shape;250;p23" title="sseses.png"/>
          <p:cNvPicPr preferRelativeResize="0"/>
          <p:nvPr/>
        </p:nvPicPr>
        <p:blipFill>
          <a:blip r:embed="rId4">
            <a:alphaModFix/>
          </a:blip>
          <a:stretch>
            <a:fillRect/>
          </a:stretch>
        </p:blipFill>
        <p:spPr>
          <a:xfrm>
            <a:off x="4989325" y="1367025"/>
            <a:ext cx="3851700" cy="1793750"/>
          </a:xfrm>
          <a:prstGeom prst="rect">
            <a:avLst/>
          </a:prstGeom>
          <a:noFill/>
          <a:ln>
            <a:noFill/>
          </a:ln>
        </p:spPr>
      </p:pic>
      <p:sp>
        <p:nvSpPr>
          <p:cNvPr id="251" name="Google Shape;251;p23"/>
          <p:cNvSpPr txBox="1"/>
          <p:nvPr/>
        </p:nvSpPr>
        <p:spPr>
          <a:xfrm>
            <a:off x="289075" y="777850"/>
            <a:ext cx="3134400" cy="73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t/>
            </a:r>
            <a:endParaRPr b="1" sz="1300">
              <a:solidFill>
                <a:schemeClr val="lt1"/>
              </a:solidFill>
              <a:latin typeface="Montserrat"/>
              <a:ea typeface="Montserrat"/>
              <a:cs typeface="Montserrat"/>
              <a:sym typeface="Montserrat"/>
            </a:endParaRPr>
          </a:p>
          <a:p>
            <a:pPr indent="0" lvl="0" marL="0" marR="381000" rtl="0" algn="l">
              <a:lnSpc>
                <a:spcPct val="115000"/>
              </a:lnSpc>
              <a:spcBef>
                <a:spcPts val="1200"/>
              </a:spcBef>
              <a:spcAft>
                <a:spcPts val="1200"/>
              </a:spcAft>
              <a:buNone/>
            </a:pPr>
            <a:r>
              <a:t/>
            </a:r>
            <a:endParaRPr sz="1100">
              <a:solidFill>
                <a:schemeClr val="lt1"/>
              </a:solidFill>
              <a:latin typeface="Montserrat"/>
              <a:ea typeface="Montserrat"/>
              <a:cs typeface="Montserrat"/>
              <a:sym typeface="Montserrat"/>
            </a:endParaRPr>
          </a:p>
        </p:txBody>
      </p:sp>
      <p:sp>
        <p:nvSpPr>
          <p:cNvPr id="252" name="Google Shape;252;p23"/>
          <p:cNvSpPr txBox="1"/>
          <p:nvPr/>
        </p:nvSpPr>
        <p:spPr>
          <a:xfrm>
            <a:off x="64500" y="844300"/>
            <a:ext cx="4507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100">
              <a:solidFill>
                <a:schemeClr val="lt1"/>
              </a:solidFill>
              <a:latin typeface="Montserrat"/>
              <a:ea typeface="Montserrat"/>
              <a:cs typeface="Montserrat"/>
              <a:sym typeface="Montserrat"/>
            </a:endParaRPr>
          </a:p>
        </p:txBody>
      </p:sp>
      <p:sp>
        <p:nvSpPr>
          <p:cNvPr id="253" name="Google Shape;253;p23"/>
          <p:cNvSpPr txBox="1"/>
          <p:nvPr/>
        </p:nvSpPr>
        <p:spPr>
          <a:xfrm>
            <a:off x="293400" y="947225"/>
            <a:ext cx="3965400" cy="213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tr" sz="1500">
                <a:solidFill>
                  <a:schemeClr val="lt1"/>
                </a:solidFill>
                <a:latin typeface="Montserrat"/>
                <a:ea typeface="Montserrat"/>
                <a:cs typeface="Montserrat"/>
                <a:sym typeface="Montserrat"/>
              </a:rPr>
              <a:t>1.</a:t>
            </a:r>
            <a:r>
              <a:rPr b="1" lang="tr" sz="1500">
                <a:solidFill>
                  <a:schemeClr val="lt1"/>
                </a:solidFill>
                <a:latin typeface="Montserrat"/>
                <a:ea typeface="Montserrat"/>
                <a:cs typeface="Montserrat"/>
                <a:sym typeface="Montserrat"/>
              </a:rPr>
              <a:t>Rand Index</a:t>
            </a:r>
            <a:endParaRPr b="1" sz="1500">
              <a:solidFill>
                <a:schemeClr val="lt1"/>
              </a:solidFill>
              <a:latin typeface="Montserrat"/>
              <a:ea typeface="Montserrat"/>
              <a:cs typeface="Montserrat"/>
              <a:sym typeface="Montserrat"/>
            </a:endParaRPr>
          </a:p>
          <a:p>
            <a:pPr indent="-298450" lvl="0" marL="457200" rtl="0" algn="l">
              <a:lnSpc>
                <a:spcPct val="115000"/>
              </a:lnSpc>
              <a:spcBef>
                <a:spcPts val="1200"/>
              </a:spcBef>
              <a:spcAft>
                <a:spcPts val="0"/>
              </a:spcAft>
              <a:buClr>
                <a:schemeClr val="lt1"/>
              </a:buClr>
              <a:buSzPts val="1100"/>
              <a:buChar char="●"/>
            </a:pPr>
            <a:r>
              <a:rPr b="1" lang="tr" sz="1100">
                <a:solidFill>
                  <a:schemeClr val="lt1"/>
                </a:solidFill>
                <a:latin typeface="Montserrat"/>
                <a:ea typeface="Montserrat"/>
                <a:cs typeface="Montserrat"/>
                <a:sym typeface="Montserrat"/>
              </a:rPr>
              <a:t>Mantık:</a:t>
            </a:r>
            <a:r>
              <a:rPr lang="tr" sz="1100">
                <a:solidFill>
                  <a:schemeClr val="lt1"/>
                </a:solidFill>
                <a:latin typeface="Montserrat"/>
                <a:ea typeface="Montserrat"/>
                <a:cs typeface="Montserrat"/>
                <a:sym typeface="Montserrat"/>
              </a:rPr>
              <a:t> Tüm gözlem çiftleri karşılaştırılır ve aynı kümede–aynı sınıfta ile farklı kümede–farklı sınıfta olan çiftler doğru kabul edilerek oranlanır.</a:t>
            </a:r>
            <a:br>
              <a:rPr lang="tr" sz="1100">
                <a:solidFill>
                  <a:schemeClr val="lt1"/>
                </a:solidFill>
                <a:latin typeface="Montserrat"/>
                <a:ea typeface="Montserrat"/>
                <a:cs typeface="Montserrat"/>
                <a:sym typeface="Montserrat"/>
              </a:rPr>
            </a:br>
            <a:endParaRPr sz="1100">
              <a:solidFill>
                <a:schemeClr val="lt1"/>
              </a:solidFill>
              <a:latin typeface="Montserrat"/>
              <a:ea typeface="Montserrat"/>
              <a:cs typeface="Montserrat"/>
              <a:sym typeface="Montserrat"/>
            </a:endParaRPr>
          </a:p>
          <a:p>
            <a:pPr indent="-298450" lvl="0" marL="457200" rtl="0" algn="l">
              <a:lnSpc>
                <a:spcPct val="115000"/>
              </a:lnSpc>
              <a:spcBef>
                <a:spcPts val="0"/>
              </a:spcBef>
              <a:spcAft>
                <a:spcPts val="0"/>
              </a:spcAft>
              <a:buClr>
                <a:schemeClr val="lt1"/>
              </a:buClr>
              <a:buSzPts val="1100"/>
              <a:buChar char="●"/>
            </a:pPr>
            <a:r>
              <a:rPr b="1" lang="tr" sz="1100">
                <a:solidFill>
                  <a:schemeClr val="lt1"/>
                </a:solidFill>
                <a:latin typeface="Montserrat"/>
                <a:ea typeface="Montserrat"/>
                <a:cs typeface="Montserrat"/>
                <a:sym typeface="Montserrat"/>
              </a:rPr>
              <a:t>Özellik:</a:t>
            </a:r>
            <a:r>
              <a:rPr lang="tr" sz="1100">
                <a:solidFill>
                  <a:schemeClr val="lt1"/>
                </a:solidFill>
                <a:latin typeface="Montserrat"/>
                <a:ea typeface="Montserrat"/>
                <a:cs typeface="Montserrat"/>
                <a:sym typeface="Montserrat"/>
              </a:rPr>
              <a:t> 0 ile 1 arasında değer alır ancak şansa duyarlı olduğu için rastgele kümelerde bile yüksek çıkabilir.</a:t>
            </a:r>
            <a:endParaRPr sz="1100">
              <a:solidFill>
                <a:schemeClr val="lt1"/>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4"/>
          <p:cNvSpPr txBox="1"/>
          <p:nvPr>
            <p:ph type="title"/>
          </p:nvPr>
        </p:nvSpPr>
        <p:spPr>
          <a:xfrm>
            <a:off x="1104775" y="369675"/>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sz="3400"/>
              <a:t>Ölçütleri</a:t>
            </a:r>
            <a:endParaRPr sz="3400"/>
          </a:p>
        </p:txBody>
      </p:sp>
      <p:sp>
        <p:nvSpPr>
          <p:cNvPr id="259" name="Google Shape;259;p24"/>
          <p:cNvSpPr txBox="1"/>
          <p:nvPr>
            <p:ph idx="1" type="body"/>
          </p:nvPr>
        </p:nvSpPr>
        <p:spPr>
          <a:xfrm>
            <a:off x="213400" y="1615725"/>
            <a:ext cx="3029400" cy="1689600"/>
          </a:xfrm>
          <a:prstGeom prst="rect">
            <a:avLst/>
          </a:prstGeom>
        </p:spPr>
        <p:txBody>
          <a:bodyPr anchorCtr="0" anchor="t" bIns="91425" lIns="91425" spcFirstLastPara="1" rIns="91425" wrap="square" tIns="91425">
            <a:normAutofit fontScale="85000" lnSpcReduction="20000"/>
          </a:bodyPr>
          <a:lstStyle/>
          <a:p>
            <a:pPr indent="0" lvl="0" marL="0" rtl="0" algn="l">
              <a:spcBef>
                <a:spcPts val="1400"/>
              </a:spcBef>
              <a:spcAft>
                <a:spcPts val="0"/>
              </a:spcAft>
              <a:buNone/>
            </a:pPr>
            <a:r>
              <a:rPr b="1" lang="tr">
                <a:latin typeface="Montserrat"/>
                <a:ea typeface="Montserrat"/>
                <a:cs typeface="Montserrat"/>
                <a:sym typeface="Montserrat"/>
              </a:rPr>
              <a:t>3. Jaccard Index</a:t>
            </a:r>
            <a:endParaRPr b="1">
              <a:latin typeface="Montserrat"/>
              <a:ea typeface="Montserrat"/>
              <a:cs typeface="Montserrat"/>
              <a:sym typeface="Montserrat"/>
            </a:endParaRPr>
          </a:p>
          <a:p>
            <a:pPr indent="0" lvl="0" marL="0" rtl="0" algn="l">
              <a:spcBef>
                <a:spcPts val="1200"/>
              </a:spcBef>
              <a:spcAft>
                <a:spcPts val="0"/>
              </a:spcAft>
              <a:buNone/>
            </a:pPr>
            <a:r>
              <a:rPr lang="tr" sz="1100">
                <a:latin typeface="Montserrat"/>
                <a:ea typeface="Montserrat"/>
                <a:cs typeface="Montserrat"/>
                <a:sym typeface="Montserrat"/>
              </a:rPr>
              <a:t>Aynı sınıfa ve aynı kümeye atanmış gözlemlerin, tüm pozitif eşleşmelere oranını ölçer.</a:t>
            </a:r>
            <a:endParaRPr sz="1100">
              <a:latin typeface="Montserrat"/>
              <a:ea typeface="Montserrat"/>
              <a:cs typeface="Montserrat"/>
              <a:sym typeface="Montserrat"/>
            </a:endParaRPr>
          </a:p>
          <a:p>
            <a:pPr indent="-287972" lvl="0" marL="457200" rtl="0" algn="l">
              <a:spcBef>
                <a:spcPts val="1200"/>
              </a:spcBef>
              <a:spcAft>
                <a:spcPts val="0"/>
              </a:spcAft>
              <a:buClr>
                <a:schemeClr val="lt1"/>
              </a:buClr>
              <a:buSzPct val="100000"/>
              <a:buFont typeface="Montserrat"/>
              <a:buChar char="●"/>
            </a:pPr>
            <a:r>
              <a:rPr lang="tr" sz="1100">
                <a:latin typeface="Montserrat"/>
                <a:ea typeface="Montserrat"/>
                <a:cs typeface="Montserrat"/>
                <a:sym typeface="Montserrat"/>
              </a:rPr>
              <a:t>Yanlış negatifleri dikkate almaz</a:t>
            </a:r>
            <a:br>
              <a:rPr lang="tr" sz="1100">
                <a:latin typeface="Montserrat"/>
                <a:ea typeface="Montserrat"/>
                <a:cs typeface="Montserrat"/>
                <a:sym typeface="Montserrat"/>
              </a:rPr>
            </a:br>
            <a:endParaRPr sz="1100">
              <a:latin typeface="Montserrat"/>
              <a:ea typeface="Montserrat"/>
              <a:cs typeface="Montserrat"/>
              <a:sym typeface="Montserrat"/>
            </a:endParaRPr>
          </a:p>
          <a:p>
            <a:pPr indent="-287972" lvl="0" marL="457200" rtl="0" algn="l">
              <a:spcBef>
                <a:spcPts val="0"/>
              </a:spcBef>
              <a:spcAft>
                <a:spcPts val="0"/>
              </a:spcAft>
              <a:buClr>
                <a:schemeClr val="lt1"/>
              </a:buClr>
              <a:buSzPct val="100000"/>
              <a:buFont typeface="Arial"/>
              <a:buChar char="●"/>
            </a:pPr>
            <a:r>
              <a:rPr lang="tr" sz="1100">
                <a:latin typeface="Montserrat"/>
                <a:ea typeface="Montserrat"/>
                <a:cs typeface="Montserrat"/>
                <a:sym typeface="Montserrat"/>
              </a:rPr>
              <a:t>Dengesiz sınıflar için uygun</a:t>
            </a:r>
            <a:r>
              <a:rPr lang="tr" sz="1100">
                <a:latin typeface="Arial"/>
                <a:ea typeface="Arial"/>
                <a:cs typeface="Arial"/>
                <a:sym typeface="Arial"/>
              </a:rPr>
              <a:t>dur</a:t>
            </a:r>
            <a:endParaRPr sz="1100">
              <a:latin typeface="Arial"/>
              <a:ea typeface="Arial"/>
              <a:cs typeface="Arial"/>
              <a:sym typeface="Arial"/>
            </a:endParaRPr>
          </a:p>
          <a:p>
            <a:pPr indent="0" lvl="0" marL="0" rtl="0" algn="l">
              <a:spcBef>
                <a:spcPts val="1200"/>
              </a:spcBef>
              <a:spcAft>
                <a:spcPts val="1200"/>
              </a:spcAft>
              <a:buNone/>
            </a:pPr>
            <a:r>
              <a:t/>
            </a:r>
            <a:endParaRPr/>
          </a:p>
        </p:txBody>
      </p:sp>
      <p:pic>
        <p:nvPicPr>
          <p:cNvPr id="260" name="Google Shape;260;p24" title="eee.png"/>
          <p:cNvPicPr preferRelativeResize="0"/>
          <p:nvPr/>
        </p:nvPicPr>
        <p:blipFill>
          <a:blip r:embed="rId3">
            <a:alphaModFix/>
          </a:blip>
          <a:stretch>
            <a:fillRect/>
          </a:stretch>
        </p:blipFill>
        <p:spPr>
          <a:xfrm>
            <a:off x="4965225" y="1547725"/>
            <a:ext cx="3613699" cy="1535675"/>
          </a:xfrm>
          <a:prstGeom prst="rect">
            <a:avLst/>
          </a:prstGeom>
          <a:noFill/>
          <a:ln>
            <a:noFill/>
          </a:ln>
        </p:spPr>
      </p:pic>
      <p:sp>
        <p:nvSpPr>
          <p:cNvPr id="261" name="Google Shape;261;p24"/>
          <p:cNvSpPr txBox="1"/>
          <p:nvPr/>
        </p:nvSpPr>
        <p:spPr>
          <a:xfrm>
            <a:off x="213400" y="3083400"/>
            <a:ext cx="4047300" cy="206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tr" sz="1300">
                <a:solidFill>
                  <a:schemeClr val="lt1"/>
                </a:solidFill>
                <a:latin typeface="Montserrat"/>
                <a:ea typeface="Montserrat"/>
                <a:cs typeface="Montserrat"/>
                <a:sym typeface="Montserrat"/>
              </a:rPr>
              <a:t>4. Fowlkes–Mallows Index (FMI)</a:t>
            </a:r>
            <a:endParaRPr b="1" sz="1300">
              <a:solidFill>
                <a:schemeClr val="lt1"/>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tr" sz="1100">
                <a:solidFill>
                  <a:schemeClr val="lt1"/>
                </a:solidFill>
                <a:latin typeface="Montserrat"/>
                <a:ea typeface="Montserrat"/>
                <a:cs typeface="Montserrat"/>
                <a:sym typeface="Montserrat"/>
              </a:rPr>
              <a:t>Temel Mantık:</a:t>
            </a:r>
            <a:r>
              <a:rPr lang="tr" sz="1100">
                <a:solidFill>
                  <a:schemeClr val="lt1"/>
                </a:solidFill>
                <a:latin typeface="Montserrat"/>
                <a:ea typeface="Montserrat"/>
                <a:cs typeface="Montserrat"/>
                <a:sym typeface="Montserrat"/>
              </a:rPr>
              <a:t> Kümelendirme performansını, </a:t>
            </a:r>
            <a:r>
              <a:rPr b="1" lang="tr" sz="1100">
                <a:solidFill>
                  <a:schemeClr val="lt1"/>
                </a:solidFill>
                <a:latin typeface="Montserrat"/>
                <a:ea typeface="Montserrat"/>
                <a:cs typeface="Montserrat"/>
                <a:sym typeface="Montserrat"/>
              </a:rPr>
              <a:t>Hassasiyet (Precision)</a:t>
            </a:r>
            <a:r>
              <a:rPr lang="tr" sz="1100">
                <a:solidFill>
                  <a:schemeClr val="lt1"/>
                </a:solidFill>
                <a:latin typeface="Montserrat"/>
                <a:ea typeface="Montserrat"/>
                <a:cs typeface="Montserrat"/>
                <a:sym typeface="Montserrat"/>
              </a:rPr>
              <a:t> ve </a:t>
            </a:r>
            <a:r>
              <a:rPr b="1" lang="tr" sz="1100">
                <a:solidFill>
                  <a:schemeClr val="lt1"/>
                </a:solidFill>
                <a:latin typeface="Montserrat"/>
                <a:ea typeface="Montserrat"/>
                <a:cs typeface="Montserrat"/>
                <a:sym typeface="Montserrat"/>
              </a:rPr>
              <a:t>Duyarlılık (Recall)</a:t>
            </a:r>
            <a:r>
              <a:rPr lang="tr" sz="1100">
                <a:solidFill>
                  <a:schemeClr val="lt1"/>
                </a:solidFill>
                <a:latin typeface="Montserrat"/>
                <a:ea typeface="Montserrat"/>
                <a:cs typeface="Montserrat"/>
                <a:sym typeface="Montserrat"/>
              </a:rPr>
              <a:t> değerlerinin geometrik ortalamasını alarak ölçer.</a:t>
            </a:r>
            <a:endParaRPr sz="1100">
              <a:solidFill>
                <a:schemeClr val="lt1"/>
              </a:solidFill>
              <a:latin typeface="Montserrat"/>
              <a:ea typeface="Montserrat"/>
              <a:cs typeface="Montserrat"/>
              <a:sym typeface="Montserrat"/>
            </a:endParaRPr>
          </a:p>
          <a:p>
            <a:pPr indent="0" lvl="0" marL="0" rtl="0" algn="l">
              <a:lnSpc>
                <a:spcPct val="115000"/>
              </a:lnSpc>
              <a:spcBef>
                <a:spcPts val="1200"/>
              </a:spcBef>
              <a:spcAft>
                <a:spcPts val="1200"/>
              </a:spcAft>
              <a:buNone/>
            </a:pPr>
            <a:r>
              <a:rPr b="1" lang="tr" sz="1100">
                <a:solidFill>
                  <a:schemeClr val="lt1"/>
                </a:solidFill>
                <a:latin typeface="Montserrat"/>
                <a:ea typeface="Montserrat"/>
                <a:cs typeface="Montserrat"/>
                <a:sym typeface="Montserrat"/>
              </a:rPr>
              <a:t>Kritik Fark:</a:t>
            </a:r>
            <a:r>
              <a:rPr lang="tr" sz="1100">
                <a:solidFill>
                  <a:schemeClr val="lt1"/>
                </a:solidFill>
                <a:latin typeface="Montserrat"/>
                <a:ea typeface="Montserrat"/>
                <a:cs typeface="Montserrat"/>
                <a:sym typeface="Montserrat"/>
              </a:rPr>
              <a:t> Rand Index'ten farkı, geometrik ortalama kullandığı için kümeler arasındaki büyüklük farklarına ve dengesizliklere karşı daha hassas ve dengeli bir değerlendirme sunmasıdır.</a:t>
            </a:r>
            <a:endParaRPr sz="1100">
              <a:solidFill>
                <a:schemeClr val="lt1"/>
              </a:solidFill>
              <a:latin typeface="Montserrat"/>
              <a:ea typeface="Montserrat"/>
              <a:cs typeface="Montserrat"/>
              <a:sym typeface="Montserrat"/>
            </a:endParaRPr>
          </a:p>
        </p:txBody>
      </p:sp>
      <p:pic>
        <p:nvPicPr>
          <p:cNvPr id="262" name="Google Shape;262;p24" title="Code_Generated_Image (15).png"/>
          <p:cNvPicPr preferRelativeResize="0"/>
          <p:nvPr/>
        </p:nvPicPr>
        <p:blipFill>
          <a:blip r:embed="rId4">
            <a:alphaModFix/>
          </a:blip>
          <a:stretch>
            <a:fillRect/>
          </a:stretch>
        </p:blipFill>
        <p:spPr>
          <a:xfrm>
            <a:off x="4965225" y="3149900"/>
            <a:ext cx="3613699" cy="160599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5"/>
          <p:cNvSpPr txBox="1"/>
          <p:nvPr>
            <p:ph type="title"/>
          </p:nvPr>
        </p:nvSpPr>
        <p:spPr>
          <a:xfrm>
            <a:off x="1086275" y="393750"/>
            <a:ext cx="7603800" cy="914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tr"/>
              <a:t>3</a:t>
            </a:r>
            <a:r>
              <a:rPr b="1" lang="tr"/>
              <a:t>-Göreceli Küme Doğrulama(Relative Clustering Validation)</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68" name="Google Shape;268;p2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sz="1100">
                <a:latin typeface="Montserrat Medium"/>
                <a:ea typeface="Montserrat Medium"/>
                <a:cs typeface="Montserrat Medium"/>
                <a:sym typeface="Montserrat Medium"/>
              </a:rPr>
              <a:t>Relative Clustering Validation (Göreceli Kümeleme Doğrulaması), aynı veri seti üzerinde farklı parametrelerle (örneğin farklı k küme sayıları) çalıştırılan kümeleme sonuçlarını birbiriyle kıyaslayarak en uygun model yapısını belirleme sürecidir.</a:t>
            </a:r>
            <a:endParaRPr sz="1100">
              <a:latin typeface="Montserrat Medium"/>
              <a:ea typeface="Montserrat Medium"/>
              <a:cs typeface="Montserrat Medium"/>
              <a:sym typeface="Montserrat Medium"/>
            </a:endParaRPr>
          </a:p>
          <a:p>
            <a:pPr indent="0" lvl="0" marL="0" rtl="0" algn="l">
              <a:spcBef>
                <a:spcPts val="1200"/>
              </a:spcBef>
              <a:spcAft>
                <a:spcPts val="0"/>
              </a:spcAft>
              <a:buNone/>
            </a:pPr>
            <a:r>
              <a:t/>
            </a:r>
            <a:endParaRPr sz="1100">
              <a:latin typeface="Montserrat Medium"/>
              <a:ea typeface="Montserrat Medium"/>
              <a:cs typeface="Montserrat Medium"/>
              <a:sym typeface="Montserrat Medium"/>
            </a:endParaRPr>
          </a:p>
          <a:p>
            <a:pPr indent="0" lvl="0" marL="0" rtl="0" algn="l">
              <a:spcBef>
                <a:spcPts val="1200"/>
              </a:spcBef>
              <a:spcAft>
                <a:spcPts val="1200"/>
              </a:spcAft>
              <a:buNone/>
            </a:pPr>
            <a:r>
              <a:t/>
            </a:r>
            <a:endParaRPr/>
          </a:p>
        </p:txBody>
      </p:sp>
      <p:sp>
        <p:nvSpPr>
          <p:cNvPr id="269" name="Google Shape;269;p25"/>
          <p:cNvSpPr txBox="1"/>
          <p:nvPr/>
        </p:nvSpPr>
        <p:spPr>
          <a:xfrm>
            <a:off x="1377000" y="2625975"/>
            <a:ext cx="6390000" cy="167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tr" sz="1700">
                <a:solidFill>
                  <a:schemeClr val="lt1"/>
                </a:solidFill>
                <a:latin typeface="Montserrat"/>
                <a:ea typeface="Montserrat"/>
                <a:cs typeface="Montserrat"/>
                <a:sym typeface="Montserrat"/>
              </a:rPr>
              <a:t>Relative Validation Mantığı</a:t>
            </a:r>
            <a:endParaRPr b="1" sz="1700">
              <a:solidFill>
                <a:schemeClr val="lt1"/>
              </a:solidFill>
              <a:latin typeface="Montserrat"/>
              <a:ea typeface="Montserrat"/>
              <a:cs typeface="Montserrat"/>
              <a:sym typeface="Montserrat"/>
            </a:endParaRPr>
          </a:p>
          <a:p>
            <a:pPr indent="-298450" lvl="0" marL="457200" rtl="0" algn="l">
              <a:lnSpc>
                <a:spcPct val="115000"/>
              </a:lnSpc>
              <a:spcBef>
                <a:spcPts val="400"/>
              </a:spcBef>
              <a:spcAft>
                <a:spcPts val="0"/>
              </a:spcAft>
              <a:buClr>
                <a:schemeClr val="lt1"/>
              </a:buClr>
              <a:buSzPts val="1100"/>
              <a:buChar char="●"/>
            </a:pPr>
            <a:r>
              <a:rPr b="1" lang="tr" sz="1100">
                <a:solidFill>
                  <a:schemeClr val="lt1"/>
                </a:solidFill>
                <a:latin typeface="Montserrat"/>
                <a:ea typeface="Montserrat"/>
                <a:cs typeface="Montserrat"/>
                <a:sym typeface="Montserrat"/>
              </a:rPr>
              <a:t>Temel Soru:</a:t>
            </a:r>
            <a:r>
              <a:rPr lang="tr" sz="1100">
                <a:solidFill>
                  <a:schemeClr val="lt1"/>
                </a:solidFill>
                <a:latin typeface="Montserrat"/>
                <a:ea typeface="Montserrat"/>
                <a:cs typeface="Montserrat"/>
                <a:sym typeface="Montserrat"/>
              </a:rPr>
              <a:t> "k=3 mü yoksa k=5 mi verimi daha iyi tanımlıyor?"</a:t>
            </a:r>
            <a:endParaRPr sz="1100">
              <a:solidFill>
                <a:schemeClr val="lt1"/>
              </a:solidFill>
              <a:latin typeface="Montserrat"/>
              <a:ea typeface="Montserrat"/>
              <a:cs typeface="Montserrat"/>
              <a:sym typeface="Montserrat"/>
            </a:endParaRPr>
          </a:p>
          <a:p>
            <a:pPr indent="-298450" lvl="0" marL="457200" rtl="0" algn="l">
              <a:lnSpc>
                <a:spcPct val="115000"/>
              </a:lnSpc>
              <a:spcBef>
                <a:spcPts val="0"/>
              </a:spcBef>
              <a:spcAft>
                <a:spcPts val="0"/>
              </a:spcAft>
              <a:buClr>
                <a:schemeClr val="lt1"/>
              </a:buClr>
              <a:buSzPts val="1100"/>
              <a:buFont typeface="Montserrat"/>
              <a:buChar char="●"/>
            </a:pPr>
            <a:r>
              <a:rPr b="1" lang="tr" sz="1100">
                <a:solidFill>
                  <a:schemeClr val="lt1"/>
                </a:solidFill>
                <a:latin typeface="Montserrat"/>
                <a:ea typeface="Montserrat"/>
                <a:cs typeface="Montserrat"/>
                <a:sym typeface="Montserrat"/>
              </a:rPr>
              <a:t>Süreç:</a:t>
            </a:r>
            <a:endParaRPr b="1" sz="1100">
              <a:solidFill>
                <a:schemeClr val="lt1"/>
              </a:solidFill>
              <a:latin typeface="Montserrat"/>
              <a:ea typeface="Montserrat"/>
              <a:cs typeface="Montserrat"/>
              <a:sym typeface="Montserrat"/>
            </a:endParaRPr>
          </a:p>
          <a:p>
            <a:pPr indent="-298450" lvl="1" marL="914400" rtl="0" algn="l">
              <a:lnSpc>
                <a:spcPct val="115000"/>
              </a:lnSpc>
              <a:spcBef>
                <a:spcPts val="0"/>
              </a:spcBef>
              <a:spcAft>
                <a:spcPts val="0"/>
              </a:spcAft>
              <a:buClr>
                <a:schemeClr val="lt1"/>
              </a:buClr>
              <a:buSzPts val="1100"/>
              <a:buFont typeface="Montserrat"/>
              <a:buChar char="○"/>
            </a:pPr>
            <a:r>
              <a:rPr lang="tr" sz="1100">
                <a:solidFill>
                  <a:schemeClr val="lt1"/>
                </a:solidFill>
                <a:latin typeface="Montserrat"/>
                <a:ea typeface="Montserrat"/>
                <a:cs typeface="Montserrat"/>
                <a:sym typeface="Montserrat"/>
              </a:rPr>
              <a:t>Algoritma farklı parametrelerle defalarca çalıştırılır.</a:t>
            </a:r>
            <a:endParaRPr sz="1100">
              <a:solidFill>
                <a:schemeClr val="lt1"/>
              </a:solidFill>
              <a:latin typeface="Montserrat"/>
              <a:ea typeface="Montserrat"/>
              <a:cs typeface="Montserrat"/>
              <a:sym typeface="Montserrat"/>
            </a:endParaRPr>
          </a:p>
          <a:p>
            <a:pPr indent="-298450" lvl="1" marL="914400" rtl="0" algn="l">
              <a:lnSpc>
                <a:spcPct val="115000"/>
              </a:lnSpc>
              <a:spcBef>
                <a:spcPts val="0"/>
              </a:spcBef>
              <a:spcAft>
                <a:spcPts val="0"/>
              </a:spcAft>
              <a:buClr>
                <a:schemeClr val="lt1"/>
              </a:buClr>
              <a:buSzPts val="1100"/>
              <a:buFont typeface="Montserrat"/>
              <a:buChar char="○"/>
            </a:pPr>
            <a:r>
              <a:rPr lang="tr" sz="1100">
                <a:solidFill>
                  <a:schemeClr val="lt1"/>
                </a:solidFill>
                <a:latin typeface="Montserrat"/>
                <a:ea typeface="Montserrat"/>
                <a:cs typeface="Montserrat"/>
                <a:sym typeface="Montserrat"/>
              </a:rPr>
              <a:t>Her sonuç için bir kalite puanı hesaplanır.</a:t>
            </a:r>
            <a:endParaRPr sz="1100">
              <a:solidFill>
                <a:schemeClr val="lt1"/>
              </a:solidFill>
              <a:latin typeface="Montserrat"/>
              <a:ea typeface="Montserrat"/>
              <a:cs typeface="Montserrat"/>
              <a:sym typeface="Montserrat"/>
            </a:endParaRPr>
          </a:p>
          <a:p>
            <a:pPr indent="-298450" lvl="1" marL="914400" rtl="0" algn="l">
              <a:lnSpc>
                <a:spcPct val="115000"/>
              </a:lnSpc>
              <a:spcBef>
                <a:spcPts val="0"/>
              </a:spcBef>
              <a:spcAft>
                <a:spcPts val="0"/>
              </a:spcAft>
              <a:buClr>
                <a:schemeClr val="lt1"/>
              </a:buClr>
              <a:buSzPts val="1100"/>
              <a:buFont typeface="Montserrat"/>
              <a:buChar char="○"/>
            </a:pPr>
            <a:r>
              <a:rPr lang="tr" sz="1100">
                <a:solidFill>
                  <a:schemeClr val="lt1"/>
                </a:solidFill>
                <a:latin typeface="Montserrat"/>
                <a:ea typeface="Montserrat"/>
                <a:cs typeface="Montserrat"/>
                <a:sym typeface="Montserrat"/>
              </a:rPr>
              <a:t>Bu puanlar bir grafik üzerinde kıyaslanır.</a:t>
            </a:r>
            <a:endParaRPr sz="1100">
              <a:solidFill>
                <a:schemeClr val="lt1"/>
              </a:solidFill>
              <a:latin typeface="Montserrat"/>
              <a:ea typeface="Montserrat"/>
              <a:cs typeface="Montserrat"/>
              <a:sym typeface="Montserrat"/>
            </a:endParaRPr>
          </a:p>
          <a:p>
            <a:pPr indent="-298450" lvl="0" marL="457200" rtl="0" algn="l">
              <a:lnSpc>
                <a:spcPct val="115000"/>
              </a:lnSpc>
              <a:spcBef>
                <a:spcPts val="0"/>
              </a:spcBef>
              <a:spcAft>
                <a:spcPts val="0"/>
              </a:spcAft>
              <a:buClr>
                <a:schemeClr val="lt1"/>
              </a:buClr>
              <a:buSzPts val="1100"/>
              <a:buChar char="●"/>
            </a:pPr>
            <a:r>
              <a:rPr b="1" lang="tr" sz="1100">
                <a:solidFill>
                  <a:schemeClr val="lt1"/>
                </a:solidFill>
                <a:latin typeface="Montserrat"/>
                <a:ea typeface="Montserrat"/>
                <a:cs typeface="Montserrat"/>
                <a:sym typeface="Montserrat"/>
              </a:rPr>
              <a:t>Amaç:</a:t>
            </a:r>
            <a:r>
              <a:rPr lang="tr" sz="1100">
                <a:solidFill>
                  <a:schemeClr val="lt1"/>
                </a:solidFill>
                <a:latin typeface="Montserrat"/>
                <a:ea typeface="Montserrat"/>
                <a:cs typeface="Montserrat"/>
                <a:sym typeface="Montserrat"/>
              </a:rPr>
              <a:t> Verideki gizli yapıyı en iyi yansıtan parametre kombinasyonunu bulmak.</a:t>
            </a:r>
            <a:endParaRPr sz="1100">
              <a:solidFill>
                <a:schemeClr val="lt1"/>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a:t>Ölçütleri</a:t>
            </a:r>
            <a:endParaRPr/>
          </a:p>
        </p:txBody>
      </p:sp>
      <p:sp>
        <p:nvSpPr>
          <p:cNvPr id="275" name="Google Shape;275;p26"/>
          <p:cNvSpPr txBox="1"/>
          <p:nvPr>
            <p:ph idx="1" type="body"/>
          </p:nvPr>
        </p:nvSpPr>
        <p:spPr>
          <a:xfrm>
            <a:off x="141125" y="1423000"/>
            <a:ext cx="5064900" cy="1545000"/>
          </a:xfrm>
          <a:prstGeom prst="rect">
            <a:avLst/>
          </a:prstGeom>
        </p:spPr>
        <p:txBody>
          <a:bodyPr anchorCtr="0" anchor="t" bIns="91425" lIns="91425" spcFirstLastPara="1" rIns="91425" wrap="square" tIns="91425">
            <a:normAutofit fontScale="85000" lnSpcReduction="20000"/>
          </a:bodyPr>
          <a:lstStyle/>
          <a:p>
            <a:pPr indent="0" lvl="0" marL="0" rtl="0" algn="l">
              <a:spcBef>
                <a:spcPts val="1800"/>
              </a:spcBef>
              <a:spcAft>
                <a:spcPts val="0"/>
              </a:spcAft>
              <a:buNone/>
            </a:pPr>
            <a:r>
              <a:rPr b="1" lang="tr" sz="1700">
                <a:latin typeface="Montserrat"/>
                <a:ea typeface="Montserrat"/>
                <a:cs typeface="Montserrat"/>
                <a:sym typeface="Montserrat"/>
              </a:rPr>
              <a:t>En Yaygın Yöntem - Dirsek (Elbow) Metodu</a:t>
            </a:r>
            <a:endParaRPr b="1" sz="1700">
              <a:latin typeface="Montserrat"/>
              <a:ea typeface="Montserrat"/>
              <a:cs typeface="Montserrat"/>
              <a:sym typeface="Montserrat"/>
            </a:endParaRPr>
          </a:p>
          <a:p>
            <a:pPr indent="-287972" lvl="0" marL="457200" rtl="0" algn="l">
              <a:spcBef>
                <a:spcPts val="1200"/>
              </a:spcBef>
              <a:spcAft>
                <a:spcPts val="0"/>
              </a:spcAft>
              <a:buClr>
                <a:schemeClr val="lt1"/>
              </a:buClr>
              <a:buSzPct val="100000"/>
              <a:buFont typeface="Arial"/>
              <a:buChar char="●"/>
            </a:pPr>
            <a:r>
              <a:rPr b="1" lang="tr" sz="1100">
                <a:latin typeface="Montserrat"/>
                <a:ea typeface="Montserrat"/>
                <a:cs typeface="Montserrat"/>
                <a:sym typeface="Montserrat"/>
              </a:rPr>
              <a:t>Nasıl Çalışır?</a:t>
            </a:r>
            <a:r>
              <a:rPr lang="tr" sz="1100">
                <a:latin typeface="Montserrat"/>
                <a:ea typeface="Montserrat"/>
                <a:cs typeface="Montserrat"/>
                <a:sym typeface="Montserrat"/>
              </a:rPr>
              <a:t> Küme içi hata kareler toplamına (SSE - Sum of Squared Errors) bakılır.</a:t>
            </a:r>
            <a:endParaRPr sz="1100">
              <a:latin typeface="Montserrat"/>
              <a:ea typeface="Montserrat"/>
              <a:cs typeface="Montserrat"/>
              <a:sym typeface="Montserrat"/>
            </a:endParaRPr>
          </a:p>
          <a:p>
            <a:pPr indent="-287972" lvl="0" marL="457200" rtl="0" algn="l">
              <a:spcBef>
                <a:spcPts val="0"/>
              </a:spcBef>
              <a:spcAft>
                <a:spcPts val="0"/>
              </a:spcAft>
              <a:buClr>
                <a:schemeClr val="lt1"/>
              </a:buClr>
              <a:buSzPct val="100000"/>
              <a:buFont typeface="Arial"/>
              <a:buChar char="●"/>
            </a:pPr>
            <a:r>
              <a:rPr b="1" lang="tr" sz="1100">
                <a:latin typeface="Montserrat"/>
                <a:ea typeface="Montserrat"/>
                <a:cs typeface="Montserrat"/>
                <a:sym typeface="Montserrat"/>
              </a:rPr>
              <a:t>Kural:</a:t>
            </a:r>
            <a:r>
              <a:rPr lang="tr" sz="1100">
                <a:latin typeface="Montserrat"/>
                <a:ea typeface="Montserrat"/>
                <a:cs typeface="Montserrat"/>
                <a:sym typeface="Montserrat"/>
              </a:rPr>
              <a:t> Küme sayısı arttıkça hata azalır. Ancak bir noktadan sonra hata çok yavaş düşmeye başlar.</a:t>
            </a:r>
            <a:endParaRPr sz="1100">
              <a:latin typeface="Montserrat"/>
              <a:ea typeface="Montserrat"/>
              <a:cs typeface="Montserrat"/>
              <a:sym typeface="Montserrat"/>
            </a:endParaRPr>
          </a:p>
          <a:p>
            <a:pPr indent="-287972" lvl="0" marL="457200" rtl="0" algn="l">
              <a:spcBef>
                <a:spcPts val="0"/>
              </a:spcBef>
              <a:spcAft>
                <a:spcPts val="0"/>
              </a:spcAft>
              <a:buClr>
                <a:schemeClr val="lt1"/>
              </a:buClr>
              <a:buSzPct val="100000"/>
              <a:buFont typeface="Arial"/>
              <a:buChar char="●"/>
            </a:pPr>
            <a:r>
              <a:rPr b="1" lang="tr" sz="1100">
                <a:latin typeface="Montserrat"/>
                <a:ea typeface="Montserrat"/>
                <a:cs typeface="Montserrat"/>
                <a:sym typeface="Montserrat"/>
              </a:rPr>
              <a:t>Karar:</a:t>
            </a:r>
            <a:r>
              <a:rPr lang="tr" sz="1100">
                <a:latin typeface="Montserrat"/>
                <a:ea typeface="Montserrat"/>
                <a:cs typeface="Montserrat"/>
                <a:sym typeface="Montserrat"/>
              </a:rPr>
              <a:t> Grafikteki "kırılma" veya "dirsek" noktası en uygun küme sayısıdır.</a:t>
            </a:r>
            <a:endParaRPr sz="1100">
              <a:latin typeface="Montserrat"/>
              <a:ea typeface="Montserrat"/>
              <a:cs typeface="Montserrat"/>
              <a:sym typeface="Montserrat"/>
            </a:endParaRPr>
          </a:p>
          <a:p>
            <a:pPr indent="0" lvl="0" marL="0" rtl="0" algn="l">
              <a:spcBef>
                <a:spcPts val="1200"/>
              </a:spcBef>
              <a:spcAft>
                <a:spcPts val="1200"/>
              </a:spcAft>
              <a:buNone/>
            </a:pPr>
            <a:r>
              <a:t/>
            </a:r>
            <a:endParaRPr/>
          </a:p>
        </p:txBody>
      </p:sp>
      <p:sp>
        <p:nvSpPr>
          <p:cNvPr id="276" name="Google Shape;276;p26"/>
          <p:cNvSpPr txBox="1"/>
          <p:nvPr/>
        </p:nvSpPr>
        <p:spPr>
          <a:xfrm>
            <a:off x="315600" y="2885825"/>
            <a:ext cx="4649700" cy="167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tr" sz="1700">
                <a:solidFill>
                  <a:schemeClr val="lt1"/>
                </a:solidFill>
                <a:latin typeface="Montserrat"/>
                <a:ea typeface="Montserrat"/>
                <a:cs typeface="Montserrat"/>
                <a:sym typeface="Montserrat"/>
              </a:rPr>
              <a:t>Silhouette Analizi (Göreceli Kıyaslama)</a:t>
            </a:r>
            <a:endParaRPr b="1" sz="1700">
              <a:solidFill>
                <a:schemeClr val="lt1"/>
              </a:solidFill>
              <a:latin typeface="Montserrat"/>
              <a:ea typeface="Montserrat"/>
              <a:cs typeface="Montserrat"/>
              <a:sym typeface="Montserrat"/>
            </a:endParaRPr>
          </a:p>
          <a:p>
            <a:pPr indent="-298450" lvl="0" marL="457200" rtl="0" algn="l">
              <a:lnSpc>
                <a:spcPct val="115000"/>
              </a:lnSpc>
              <a:spcBef>
                <a:spcPts val="400"/>
              </a:spcBef>
              <a:spcAft>
                <a:spcPts val="0"/>
              </a:spcAft>
              <a:buClr>
                <a:schemeClr val="lt1"/>
              </a:buClr>
              <a:buSzPts val="1100"/>
              <a:buChar char="●"/>
            </a:pPr>
            <a:r>
              <a:rPr b="1" lang="tr" sz="1100">
                <a:solidFill>
                  <a:schemeClr val="lt1"/>
                </a:solidFill>
                <a:latin typeface="Montserrat"/>
                <a:ea typeface="Montserrat"/>
                <a:cs typeface="Montserrat"/>
                <a:sym typeface="Montserrat"/>
              </a:rPr>
              <a:t>Tanım:</a:t>
            </a:r>
            <a:r>
              <a:rPr lang="tr" sz="1100">
                <a:solidFill>
                  <a:schemeClr val="lt1"/>
                </a:solidFill>
                <a:latin typeface="Montserrat"/>
                <a:ea typeface="Montserrat"/>
                <a:cs typeface="Montserrat"/>
                <a:sym typeface="Montserrat"/>
              </a:rPr>
              <a:t> Bir veri noktasının kendi kümesine olan yakınlığı ile komşu kümelere olan uzaklığını oranlar.</a:t>
            </a:r>
            <a:endParaRPr sz="1100">
              <a:solidFill>
                <a:schemeClr val="lt1"/>
              </a:solidFill>
              <a:latin typeface="Montserrat"/>
              <a:ea typeface="Montserrat"/>
              <a:cs typeface="Montserrat"/>
              <a:sym typeface="Montserrat"/>
            </a:endParaRPr>
          </a:p>
          <a:p>
            <a:pPr indent="-298450" lvl="0" marL="457200" rtl="0" algn="l">
              <a:lnSpc>
                <a:spcPct val="115000"/>
              </a:lnSpc>
              <a:spcBef>
                <a:spcPts val="0"/>
              </a:spcBef>
              <a:spcAft>
                <a:spcPts val="0"/>
              </a:spcAft>
              <a:buClr>
                <a:schemeClr val="lt1"/>
              </a:buClr>
              <a:buSzPts val="1100"/>
              <a:buChar char="●"/>
            </a:pPr>
            <a:r>
              <a:rPr b="1" lang="tr" sz="1100">
                <a:solidFill>
                  <a:schemeClr val="lt1"/>
                </a:solidFill>
                <a:latin typeface="Montserrat"/>
                <a:ea typeface="Montserrat"/>
                <a:cs typeface="Montserrat"/>
                <a:sym typeface="Montserrat"/>
              </a:rPr>
              <a:t>Puanlama:</a:t>
            </a:r>
            <a:r>
              <a:rPr lang="tr" sz="1100">
                <a:solidFill>
                  <a:schemeClr val="lt1"/>
                </a:solidFill>
                <a:latin typeface="Montserrat"/>
                <a:ea typeface="Montserrat"/>
                <a:cs typeface="Montserrat"/>
                <a:sym typeface="Montserrat"/>
              </a:rPr>
              <a:t> -1 ile +1 arası değer alır.</a:t>
            </a:r>
            <a:endParaRPr sz="1100">
              <a:solidFill>
                <a:schemeClr val="lt1"/>
              </a:solidFill>
              <a:latin typeface="Montserrat"/>
              <a:ea typeface="Montserrat"/>
              <a:cs typeface="Montserrat"/>
              <a:sym typeface="Montserrat"/>
            </a:endParaRPr>
          </a:p>
          <a:p>
            <a:pPr indent="-298450" lvl="0" marL="457200" rtl="0" algn="l">
              <a:lnSpc>
                <a:spcPct val="115000"/>
              </a:lnSpc>
              <a:spcBef>
                <a:spcPts val="0"/>
              </a:spcBef>
              <a:spcAft>
                <a:spcPts val="0"/>
              </a:spcAft>
              <a:buClr>
                <a:schemeClr val="lt1"/>
              </a:buClr>
              <a:buSzPts val="1100"/>
              <a:buChar char="●"/>
            </a:pPr>
            <a:r>
              <a:rPr b="1" lang="tr" sz="1100">
                <a:solidFill>
                  <a:schemeClr val="lt1"/>
                </a:solidFill>
                <a:latin typeface="Montserrat"/>
                <a:ea typeface="Montserrat"/>
                <a:cs typeface="Montserrat"/>
                <a:sym typeface="Montserrat"/>
              </a:rPr>
              <a:t>Göreceli Seçim:</a:t>
            </a:r>
            <a:r>
              <a:rPr lang="tr" sz="1100">
                <a:solidFill>
                  <a:schemeClr val="lt1"/>
                </a:solidFill>
                <a:latin typeface="Montserrat"/>
                <a:ea typeface="Montserrat"/>
                <a:cs typeface="Montserrat"/>
                <a:sym typeface="Montserrat"/>
              </a:rPr>
              <a:t> Farklı k değerleri için ortalama Silhouette skorları çizilir. En yüksek puanın alındığı k seçilir.</a:t>
            </a:r>
            <a:endParaRPr sz="1100">
              <a:solidFill>
                <a:schemeClr val="lt1"/>
              </a:solidFill>
              <a:latin typeface="Montserrat"/>
              <a:ea typeface="Montserrat"/>
              <a:cs typeface="Montserrat"/>
              <a:sym typeface="Montserrat"/>
            </a:endParaRPr>
          </a:p>
        </p:txBody>
      </p:sp>
      <p:sp>
        <p:nvSpPr>
          <p:cNvPr id="277" name="Google Shape;277;p26"/>
          <p:cNvSpPr txBox="1"/>
          <p:nvPr/>
        </p:nvSpPr>
        <p:spPr>
          <a:xfrm>
            <a:off x="4748275" y="2968000"/>
            <a:ext cx="3662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t/>
            </a:r>
            <a:endParaRPr sz="1100">
              <a:solidFill>
                <a:schemeClr val="lt1"/>
              </a:solidFill>
              <a:latin typeface="Montserrat"/>
              <a:ea typeface="Montserrat"/>
              <a:cs typeface="Montserrat"/>
              <a:sym typeface="Montserrat"/>
            </a:endParaRPr>
          </a:p>
        </p:txBody>
      </p:sp>
      <p:pic>
        <p:nvPicPr>
          <p:cNvPr id="278" name="Google Shape;278;p26" title="Gemini_Generated_Image_jqlx3ejqlx3ejqlx.png"/>
          <p:cNvPicPr preferRelativeResize="0"/>
          <p:nvPr/>
        </p:nvPicPr>
        <p:blipFill>
          <a:blip r:embed="rId3">
            <a:alphaModFix/>
          </a:blip>
          <a:stretch>
            <a:fillRect/>
          </a:stretch>
        </p:blipFill>
        <p:spPr>
          <a:xfrm>
            <a:off x="5596875" y="3064975"/>
            <a:ext cx="3168001" cy="1980600"/>
          </a:xfrm>
          <a:prstGeom prst="rect">
            <a:avLst/>
          </a:prstGeom>
          <a:noFill/>
          <a:ln>
            <a:noFill/>
          </a:ln>
        </p:spPr>
      </p:pic>
      <p:pic>
        <p:nvPicPr>
          <p:cNvPr id="279" name="Google Shape;279;p26" title="0_aY163H0kOrBO46S-.png"/>
          <p:cNvPicPr preferRelativeResize="0"/>
          <p:nvPr/>
        </p:nvPicPr>
        <p:blipFill>
          <a:blip r:embed="rId4">
            <a:alphaModFix/>
          </a:blip>
          <a:stretch>
            <a:fillRect/>
          </a:stretch>
        </p:blipFill>
        <p:spPr>
          <a:xfrm>
            <a:off x="5596875" y="1100975"/>
            <a:ext cx="3168000" cy="2059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a:t>Ölçütleri</a:t>
            </a:r>
            <a:endParaRPr/>
          </a:p>
        </p:txBody>
      </p:sp>
      <p:sp>
        <p:nvSpPr>
          <p:cNvPr id="285" name="Google Shape;285;p27"/>
          <p:cNvSpPr txBox="1"/>
          <p:nvPr>
            <p:ph idx="1" type="body"/>
          </p:nvPr>
        </p:nvSpPr>
        <p:spPr>
          <a:xfrm>
            <a:off x="68700" y="1170025"/>
            <a:ext cx="4503300" cy="1846200"/>
          </a:xfrm>
          <a:prstGeom prst="rect">
            <a:avLst/>
          </a:prstGeom>
        </p:spPr>
        <p:txBody>
          <a:bodyPr anchorCtr="0" anchor="t" bIns="91425" lIns="91425" spcFirstLastPara="1" rIns="91425" wrap="square" tIns="91425">
            <a:normAutofit lnSpcReduction="10000"/>
          </a:bodyPr>
          <a:lstStyle/>
          <a:p>
            <a:pPr indent="0" lvl="0" marL="0" rtl="0" algn="l">
              <a:spcBef>
                <a:spcPts val="1800"/>
              </a:spcBef>
              <a:spcAft>
                <a:spcPts val="0"/>
              </a:spcAft>
              <a:buNone/>
            </a:pPr>
            <a:r>
              <a:rPr b="1" lang="tr" sz="1700">
                <a:latin typeface="Montserrat"/>
                <a:ea typeface="Montserrat"/>
                <a:cs typeface="Montserrat"/>
                <a:sym typeface="Montserrat"/>
              </a:rPr>
              <a:t>Gap Statistic (Boşluk İstatistiği)</a:t>
            </a:r>
            <a:endParaRPr b="1" sz="1700">
              <a:latin typeface="Montserrat"/>
              <a:ea typeface="Montserrat"/>
              <a:cs typeface="Montserrat"/>
              <a:sym typeface="Montserrat"/>
            </a:endParaRPr>
          </a:p>
          <a:p>
            <a:pPr indent="-298450" lvl="0" marL="457200" rtl="0" algn="l">
              <a:spcBef>
                <a:spcPts val="1200"/>
              </a:spcBef>
              <a:spcAft>
                <a:spcPts val="0"/>
              </a:spcAft>
              <a:buClr>
                <a:schemeClr val="lt1"/>
              </a:buClr>
              <a:buSzPts val="1100"/>
              <a:buFont typeface="Arial"/>
              <a:buChar char="●"/>
            </a:pPr>
            <a:r>
              <a:rPr b="1" lang="tr" sz="1100">
                <a:latin typeface="Montserrat"/>
                <a:ea typeface="Montserrat"/>
                <a:cs typeface="Montserrat"/>
                <a:sym typeface="Montserrat"/>
              </a:rPr>
              <a:t>Modern Bir Yaklaşım:</a:t>
            </a:r>
            <a:r>
              <a:rPr lang="tr" sz="1100">
                <a:latin typeface="Montserrat"/>
                <a:ea typeface="Montserrat"/>
                <a:cs typeface="Montserrat"/>
                <a:sym typeface="Montserrat"/>
              </a:rPr>
              <a:t> Verideki gerçek kümeleme yapısını, hiçbir yapısı olmayan (rastgele/uniform) bir veri kümesiyle kıyaslar.</a:t>
            </a:r>
            <a:endParaRPr sz="1100">
              <a:latin typeface="Montserrat"/>
              <a:ea typeface="Montserrat"/>
              <a:cs typeface="Montserrat"/>
              <a:sym typeface="Montserrat"/>
            </a:endParaRPr>
          </a:p>
          <a:p>
            <a:pPr indent="-298450" lvl="0" marL="457200" rtl="0" algn="l">
              <a:spcBef>
                <a:spcPts val="0"/>
              </a:spcBef>
              <a:spcAft>
                <a:spcPts val="0"/>
              </a:spcAft>
              <a:buClr>
                <a:schemeClr val="lt1"/>
              </a:buClr>
              <a:buSzPts val="1100"/>
              <a:buFont typeface="Arial"/>
              <a:buChar char="●"/>
            </a:pPr>
            <a:r>
              <a:rPr b="1" lang="tr" sz="1100">
                <a:latin typeface="Montserrat"/>
                <a:ea typeface="Montserrat"/>
                <a:cs typeface="Montserrat"/>
                <a:sym typeface="Montserrat"/>
              </a:rPr>
              <a:t>Mantık:</a:t>
            </a:r>
            <a:r>
              <a:rPr lang="tr" sz="1100">
                <a:latin typeface="Montserrat"/>
                <a:ea typeface="Montserrat"/>
                <a:cs typeface="Montserrat"/>
                <a:sym typeface="Montserrat"/>
              </a:rPr>
              <a:t> Gerçek veri, rastgele veriden ne kadar "farklı" bir yapı sunuyor?</a:t>
            </a:r>
            <a:endParaRPr sz="1100">
              <a:latin typeface="Montserrat"/>
              <a:ea typeface="Montserrat"/>
              <a:cs typeface="Montserrat"/>
              <a:sym typeface="Montserrat"/>
            </a:endParaRPr>
          </a:p>
          <a:p>
            <a:pPr indent="-298450" lvl="0" marL="457200" rtl="0" algn="l">
              <a:spcBef>
                <a:spcPts val="0"/>
              </a:spcBef>
              <a:spcAft>
                <a:spcPts val="0"/>
              </a:spcAft>
              <a:buClr>
                <a:schemeClr val="lt1"/>
              </a:buClr>
              <a:buSzPts val="1100"/>
              <a:buFont typeface="Arial"/>
              <a:buChar char="●"/>
            </a:pPr>
            <a:r>
              <a:rPr b="1" lang="tr" sz="1100">
                <a:latin typeface="Montserrat"/>
                <a:ea typeface="Montserrat"/>
                <a:cs typeface="Montserrat"/>
                <a:sym typeface="Montserrat"/>
              </a:rPr>
              <a:t>Karar:</a:t>
            </a:r>
            <a:r>
              <a:rPr lang="tr" sz="1100">
                <a:latin typeface="Montserrat"/>
                <a:ea typeface="Montserrat"/>
                <a:cs typeface="Montserrat"/>
                <a:sym typeface="Montserrat"/>
              </a:rPr>
              <a:t> Farkın (Gap) en büyük olduğu nokta ideal küme sayısıdır.</a:t>
            </a:r>
            <a:endParaRPr/>
          </a:p>
        </p:txBody>
      </p:sp>
      <p:sp>
        <p:nvSpPr>
          <p:cNvPr id="286" name="Google Shape;286;p27"/>
          <p:cNvSpPr txBox="1"/>
          <p:nvPr/>
        </p:nvSpPr>
        <p:spPr>
          <a:xfrm>
            <a:off x="313200" y="2746375"/>
            <a:ext cx="3652200" cy="3540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1200"/>
              </a:spcAft>
              <a:buNone/>
            </a:pPr>
            <a:r>
              <a:t/>
            </a:r>
            <a:endParaRPr sz="1100">
              <a:solidFill>
                <a:schemeClr val="lt1"/>
              </a:solidFill>
              <a:latin typeface="Montserrat"/>
              <a:ea typeface="Montserrat"/>
              <a:cs typeface="Montserrat"/>
              <a:sym typeface="Montserrat"/>
            </a:endParaRPr>
          </a:p>
        </p:txBody>
      </p:sp>
      <p:pic>
        <p:nvPicPr>
          <p:cNvPr id="287" name="Google Shape;287;p27" title="gg1.png"/>
          <p:cNvPicPr preferRelativeResize="0"/>
          <p:nvPr/>
        </p:nvPicPr>
        <p:blipFill>
          <a:blip r:embed="rId3">
            <a:alphaModFix/>
          </a:blip>
          <a:stretch>
            <a:fillRect/>
          </a:stretch>
        </p:blipFill>
        <p:spPr>
          <a:xfrm>
            <a:off x="6048700" y="2992475"/>
            <a:ext cx="3000001" cy="1990701"/>
          </a:xfrm>
          <a:prstGeom prst="rect">
            <a:avLst/>
          </a:prstGeom>
          <a:noFill/>
          <a:ln>
            <a:noFill/>
          </a:ln>
        </p:spPr>
      </p:pic>
      <p:sp>
        <p:nvSpPr>
          <p:cNvPr id="288" name="Google Shape;288;p27"/>
          <p:cNvSpPr txBox="1"/>
          <p:nvPr/>
        </p:nvSpPr>
        <p:spPr>
          <a:xfrm>
            <a:off x="183100" y="2925750"/>
            <a:ext cx="4336500" cy="197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tr" sz="1700">
                <a:solidFill>
                  <a:schemeClr val="lt1"/>
                </a:solidFill>
                <a:latin typeface="Montserrat"/>
                <a:ea typeface="Montserrat"/>
                <a:cs typeface="Montserrat"/>
                <a:sym typeface="Montserrat"/>
              </a:rPr>
              <a:t>Calinski-Harabasz (CH) İndeksi</a:t>
            </a:r>
            <a:endParaRPr sz="1700">
              <a:solidFill>
                <a:schemeClr val="lt1"/>
              </a:solidFill>
              <a:latin typeface="Montserrat"/>
              <a:ea typeface="Montserrat"/>
              <a:cs typeface="Montserrat"/>
              <a:sym typeface="Montserrat"/>
            </a:endParaRPr>
          </a:p>
          <a:p>
            <a:pPr indent="0" lvl="0" marL="0" rtl="0" algn="l">
              <a:spcBef>
                <a:spcPts val="0"/>
              </a:spcBef>
              <a:spcAft>
                <a:spcPts val="0"/>
              </a:spcAft>
              <a:buNone/>
            </a:pPr>
            <a:r>
              <a:rPr b="1" lang="tr" sz="1100">
                <a:solidFill>
                  <a:srgbClr val="EEEEEE"/>
                </a:solidFill>
                <a:latin typeface="Montserrat"/>
                <a:ea typeface="Montserrat"/>
                <a:cs typeface="Montserrat"/>
                <a:sym typeface="Montserrat"/>
              </a:rPr>
              <a:t>Mantık:</a:t>
            </a:r>
            <a:r>
              <a:rPr lang="tr" sz="1100">
                <a:solidFill>
                  <a:srgbClr val="EEEEEE"/>
                </a:solidFill>
                <a:latin typeface="Montserrat"/>
                <a:ea typeface="Montserrat"/>
                <a:cs typeface="Montserrat"/>
                <a:sym typeface="Montserrat"/>
              </a:rPr>
              <a:t> Kümeler arası varyansın küme içi varyansa oranını hesaplayarak kümelerin ne kadar iyi ayrıldığını ölçer.</a:t>
            </a:r>
            <a:br>
              <a:rPr lang="tr" sz="1100">
                <a:solidFill>
                  <a:srgbClr val="EEEEEE"/>
                </a:solidFill>
                <a:latin typeface="Montserrat"/>
                <a:ea typeface="Montserrat"/>
                <a:cs typeface="Montserrat"/>
                <a:sym typeface="Montserrat"/>
              </a:rPr>
            </a:br>
            <a:endParaRPr sz="1100">
              <a:solidFill>
                <a:srgbClr val="EEEEEE"/>
              </a:solidFill>
              <a:latin typeface="Montserrat"/>
              <a:ea typeface="Montserrat"/>
              <a:cs typeface="Montserrat"/>
              <a:sym typeface="Montserrat"/>
            </a:endParaRPr>
          </a:p>
          <a:p>
            <a:pPr indent="0" lvl="0" marL="0" rtl="0" algn="l">
              <a:spcBef>
                <a:spcPts val="0"/>
              </a:spcBef>
              <a:spcAft>
                <a:spcPts val="0"/>
              </a:spcAft>
              <a:buNone/>
            </a:pPr>
            <a:r>
              <a:rPr b="1" lang="tr" sz="1100">
                <a:solidFill>
                  <a:srgbClr val="EEEEEE"/>
                </a:solidFill>
                <a:latin typeface="Montserrat"/>
                <a:ea typeface="Montserrat"/>
                <a:cs typeface="Montserrat"/>
                <a:sym typeface="Montserrat"/>
              </a:rPr>
              <a:t>Özellik:</a:t>
            </a:r>
            <a:r>
              <a:rPr lang="tr" sz="1100">
                <a:solidFill>
                  <a:srgbClr val="EEEEEE"/>
                </a:solidFill>
                <a:latin typeface="Montserrat"/>
                <a:ea typeface="Montserrat"/>
                <a:cs typeface="Montserrat"/>
                <a:sym typeface="Montserrat"/>
              </a:rPr>
              <a:t> Değeri büyüdükçe kümeleme kalitesi artar, ancak küme sayısına duyarlıdır.</a:t>
            </a:r>
            <a:endParaRPr sz="1100">
              <a:solidFill>
                <a:srgbClr val="EEEEEE"/>
              </a:solidFill>
              <a:latin typeface="Montserrat"/>
              <a:ea typeface="Montserrat"/>
              <a:cs typeface="Montserrat"/>
              <a:sym typeface="Montserrat"/>
            </a:endParaRPr>
          </a:p>
          <a:p>
            <a:pPr indent="0" lvl="0" marL="0" rtl="0" algn="l">
              <a:spcBef>
                <a:spcPts val="0"/>
              </a:spcBef>
              <a:spcAft>
                <a:spcPts val="0"/>
              </a:spcAft>
              <a:buNone/>
            </a:pPr>
            <a:r>
              <a:rPr b="1" lang="tr" sz="1100">
                <a:solidFill>
                  <a:srgbClr val="EEEEEE"/>
                </a:solidFill>
                <a:latin typeface="Montserrat"/>
                <a:ea typeface="Montserrat"/>
                <a:cs typeface="Montserrat"/>
                <a:sym typeface="Montserrat"/>
              </a:rPr>
              <a:t>Avantajı:</a:t>
            </a:r>
            <a:r>
              <a:rPr lang="tr" sz="1100">
                <a:solidFill>
                  <a:srgbClr val="EEEEEE"/>
                </a:solidFill>
                <a:latin typeface="Montserrat"/>
                <a:ea typeface="Montserrat"/>
                <a:cs typeface="Montserrat"/>
                <a:sym typeface="Montserrat"/>
              </a:rPr>
              <a:t> Silhouette gibi yöntemlere göre hesaplanması çok daha hızlıdır, bu nedenle büyük veri setlerinde tercih edilir.</a:t>
            </a:r>
            <a:endParaRPr sz="1100">
              <a:solidFill>
                <a:srgbClr val="EEEEEE"/>
              </a:solidFill>
              <a:latin typeface="Montserrat"/>
              <a:ea typeface="Montserrat"/>
              <a:cs typeface="Montserrat"/>
              <a:sym typeface="Montserrat"/>
            </a:endParaRPr>
          </a:p>
          <a:p>
            <a:pPr indent="0" lvl="0" marL="0" rtl="0" algn="l">
              <a:spcBef>
                <a:spcPts val="0"/>
              </a:spcBef>
              <a:spcAft>
                <a:spcPts val="0"/>
              </a:spcAft>
              <a:buNone/>
            </a:pPr>
            <a:r>
              <a:t/>
            </a:r>
            <a:endParaRPr sz="1100">
              <a:solidFill>
                <a:srgbClr val="EEEEEE"/>
              </a:solidFill>
              <a:latin typeface="Montserrat"/>
              <a:ea typeface="Montserrat"/>
              <a:cs typeface="Montserrat"/>
              <a:sym typeface="Montserrat"/>
            </a:endParaRPr>
          </a:p>
        </p:txBody>
      </p:sp>
      <p:sp>
        <p:nvSpPr>
          <p:cNvPr id="289" name="Google Shape;289;p27"/>
          <p:cNvSpPr txBox="1"/>
          <p:nvPr/>
        </p:nvSpPr>
        <p:spPr>
          <a:xfrm>
            <a:off x="445675" y="4189650"/>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lt1"/>
              </a:solidFill>
              <a:latin typeface="Montserrat"/>
              <a:ea typeface="Montserrat"/>
              <a:cs typeface="Montserrat"/>
              <a:sym typeface="Montserrat"/>
            </a:endParaRPr>
          </a:p>
        </p:txBody>
      </p:sp>
      <p:pic>
        <p:nvPicPr>
          <p:cNvPr id="290" name="Google Shape;290;p27" title="images.png"/>
          <p:cNvPicPr preferRelativeResize="0"/>
          <p:nvPr/>
        </p:nvPicPr>
        <p:blipFill>
          <a:blip r:embed="rId4">
            <a:alphaModFix/>
          </a:blip>
          <a:stretch>
            <a:fillRect/>
          </a:stretch>
        </p:blipFill>
        <p:spPr>
          <a:xfrm>
            <a:off x="6048700" y="1077900"/>
            <a:ext cx="3000000" cy="1914575"/>
          </a:xfrm>
          <a:prstGeom prst="rect">
            <a:avLst/>
          </a:prstGeom>
          <a:noFill/>
          <a:ln>
            <a:noFill/>
          </a:ln>
        </p:spPr>
      </p:pic>
      <p:sp>
        <p:nvSpPr>
          <p:cNvPr id="291" name="Google Shape;291;p27"/>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a:p>
        </p:txBody>
      </p:sp>
      <p:pic>
        <p:nvPicPr>
          <p:cNvPr id="292" name="Google Shape;292;p27" title="Ekran görüntüsü 2025-12-19 020009.png"/>
          <p:cNvPicPr preferRelativeResize="0"/>
          <p:nvPr/>
        </p:nvPicPr>
        <p:blipFill>
          <a:blip r:embed="rId5">
            <a:alphaModFix/>
          </a:blip>
          <a:stretch>
            <a:fillRect/>
          </a:stretch>
        </p:blipFill>
        <p:spPr>
          <a:xfrm>
            <a:off x="4572000" y="4043000"/>
            <a:ext cx="1394975" cy="8528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a:t>Internal ve Relative Siluette Farkı</a:t>
            </a:r>
            <a:endParaRPr/>
          </a:p>
        </p:txBody>
      </p:sp>
      <p:sp>
        <p:nvSpPr>
          <p:cNvPr id="298" name="Google Shape;298;p28"/>
          <p:cNvSpPr txBox="1"/>
          <p:nvPr>
            <p:ph idx="1" type="body"/>
          </p:nvPr>
        </p:nvSpPr>
        <p:spPr>
          <a:xfrm>
            <a:off x="4934100" y="1402125"/>
            <a:ext cx="4209900" cy="292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tr">
                <a:latin typeface="Montserrat"/>
                <a:ea typeface="Montserrat"/>
                <a:cs typeface="Montserrat"/>
                <a:sym typeface="Montserrat"/>
              </a:rPr>
              <a:t>2. Göreceli (Relative) Doğrulama Olarak Silüet</a:t>
            </a:r>
            <a:endParaRPr b="1">
              <a:latin typeface="Montserrat"/>
              <a:ea typeface="Montserrat"/>
              <a:cs typeface="Montserrat"/>
              <a:sym typeface="Montserrat"/>
            </a:endParaRPr>
          </a:p>
          <a:p>
            <a:pPr indent="0" lvl="0" marL="0" rtl="0" algn="l">
              <a:spcBef>
                <a:spcPts val="400"/>
              </a:spcBef>
              <a:spcAft>
                <a:spcPts val="0"/>
              </a:spcAft>
              <a:buNone/>
            </a:pPr>
            <a:r>
              <a:rPr lang="tr" sz="1100">
                <a:latin typeface="Montserrat"/>
                <a:ea typeface="Montserrat"/>
                <a:cs typeface="Montserrat"/>
                <a:sym typeface="Montserrat"/>
              </a:rPr>
              <a:t>Burada Silüet, </a:t>
            </a:r>
            <a:r>
              <a:rPr b="1" lang="tr" sz="1100">
                <a:latin typeface="Montserrat"/>
                <a:ea typeface="Montserrat"/>
                <a:cs typeface="Montserrat"/>
                <a:sym typeface="Montserrat"/>
              </a:rPr>
              <a:t>bir seçim kriteri</a:t>
            </a:r>
            <a:r>
              <a:rPr lang="tr" sz="1100">
                <a:latin typeface="Montserrat"/>
                <a:ea typeface="Montserrat"/>
                <a:cs typeface="Montserrat"/>
                <a:sym typeface="Montserrat"/>
              </a:rPr>
              <a:t> olarak kullanılır. Elinizde birden fazla kümeleme seçeneği (örneğin farklı k sayıları veya farklı algoritmalar) vardır ve bunları birbiriyle yarıştırırsınız.</a:t>
            </a:r>
            <a:endParaRPr sz="1100">
              <a:latin typeface="Montserrat"/>
              <a:ea typeface="Montserrat"/>
              <a:cs typeface="Montserrat"/>
              <a:sym typeface="Montserrat"/>
            </a:endParaRPr>
          </a:p>
          <a:p>
            <a:pPr indent="-298450" lvl="0" marL="457200" rtl="0" algn="l">
              <a:spcBef>
                <a:spcPts val="1200"/>
              </a:spcBef>
              <a:spcAft>
                <a:spcPts val="0"/>
              </a:spcAft>
              <a:buClr>
                <a:schemeClr val="lt1"/>
              </a:buClr>
              <a:buSzPts val="1100"/>
              <a:buFont typeface="Arial"/>
              <a:buChar char="●"/>
            </a:pPr>
            <a:r>
              <a:rPr b="1" lang="tr" sz="1100">
                <a:latin typeface="Montserrat"/>
                <a:ea typeface="Montserrat"/>
                <a:cs typeface="Montserrat"/>
                <a:sym typeface="Montserrat"/>
              </a:rPr>
              <a:t>Kullanım:</a:t>
            </a:r>
            <a:r>
              <a:rPr lang="tr" sz="1100">
                <a:latin typeface="Montserrat"/>
                <a:ea typeface="Montserrat"/>
                <a:cs typeface="Montserrat"/>
                <a:sym typeface="Montserrat"/>
              </a:rPr>
              <a:t> "K=2 mi daha iyi, K=3 mü?" sorusuna yanıt aramak.</a:t>
            </a:r>
            <a:endParaRPr sz="1100">
              <a:latin typeface="Montserrat"/>
              <a:ea typeface="Montserrat"/>
              <a:cs typeface="Montserrat"/>
              <a:sym typeface="Montserrat"/>
            </a:endParaRPr>
          </a:p>
          <a:p>
            <a:pPr indent="-298450" lvl="0" marL="457200" rtl="0" algn="l">
              <a:spcBef>
                <a:spcPts val="0"/>
              </a:spcBef>
              <a:spcAft>
                <a:spcPts val="0"/>
              </a:spcAft>
              <a:buClr>
                <a:schemeClr val="lt1"/>
              </a:buClr>
              <a:buSzPts val="1100"/>
              <a:buFont typeface="Arial"/>
              <a:buChar char="●"/>
            </a:pPr>
            <a:r>
              <a:rPr b="1" lang="tr" sz="1100">
                <a:latin typeface="Montserrat"/>
                <a:ea typeface="Montserrat"/>
                <a:cs typeface="Montserrat"/>
                <a:sym typeface="Montserrat"/>
              </a:rPr>
              <a:t>Bakılan Şey:</a:t>
            </a:r>
            <a:r>
              <a:rPr lang="tr" sz="1100">
                <a:latin typeface="Montserrat"/>
                <a:ea typeface="Montserrat"/>
                <a:cs typeface="Montserrat"/>
                <a:sym typeface="Montserrat"/>
              </a:rPr>
              <a:t> Hangi modelde "Ortalama Silüet Puanı" en yüksek?</a:t>
            </a:r>
            <a:endParaRPr sz="1100">
              <a:latin typeface="Montserrat"/>
              <a:ea typeface="Montserrat"/>
              <a:cs typeface="Montserrat"/>
              <a:sym typeface="Montserrat"/>
            </a:endParaRPr>
          </a:p>
          <a:p>
            <a:pPr indent="-298450" lvl="0" marL="457200" rtl="0" algn="l">
              <a:spcBef>
                <a:spcPts val="0"/>
              </a:spcBef>
              <a:spcAft>
                <a:spcPts val="0"/>
              </a:spcAft>
              <a:buClr>
                <a:schemeClr val="lt1"/>
              </a:buClr>
              <a:buSzPts val="1100"/>
              <a:buFont typeface="Arial"/>
              <a:buChar char="●"/>
            </a:pPr>
            <a:r>
              <a:rPr b="1" lang="tr" sz="1100">
                <a:latin typeface="Montserrat"/>
                <a:ea typeface="Montserrat"/>
                <a:cs typeface="Montserrat"/>
                <a:sym typeface="Montserrat"/>
              </a:rPr>
              <a:t>Rolü:</a:t>
            </a:r>
            <a:r>
              <a:rPr lang="tr" sz="1100">
                <a:latin typeface="Montserrat"/>
                <a:ea typeface="Montserrat"/>
                <a:cs typeface="Montserrat"/>
                <a:sym typeface="Montserrat"/>
              </a:rPr>
              <a:t> Karşılaştırma yaparak </a:t>
            </a:r>
            <a:r>
              <a:rPr b="1" lang="tr" sz="1100">
                <a:latin typeface="Montserrat"/>
                <a:ea typeface="Montserrat"/>
                <a:cs typeface="Montserrat"/>
                <a:sym typeface="Montserrat"/>
              </a:rPr>
              <a:t>optimum parametreyi</a:t>
            </a:r>
            <a:r>
              <a:rPr lang="tr" sz="1100">
                <a:latin typeface="Montserrat"/>
                <a:ea typeface="Montserrat"/>
                <a:cs typeface="Montserrat"/>
                <a:sym typeface="Montserrat"/>
              </a:rPr>
              <a:t> seçmek.</a:t>
            </a:r>
            <a:endParaRPr sz="1100">
              <a:latin typeface="Montserrat"/>
              <a:ea typeface="Montserrat"/>
              <a:cs typeface="Montserrat"/>
              <a:sym typeface="Montserrat"/>
            </a:endParaRPr>
          </a:p>
        </p:txBody>
      </p:sp>
      <p:sp>
        <p:nvSpPr>
          <p:cNvPr id="299" name="Google Shape;299;p28"/>
          <p:cNvSpPr txBox="1"/>
          <p:nvPr/>
        </p:nvSpPr>
        <p:spPr>
          <a:xfrm>
            <a:off x="351725" y="1609000"/>
            <a:ext cx="4119600" cy="225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tr" sz="1300">
                <a:solidFill>
                  <a:schemeClr val="lt1"/>
                </a:solidFill>
                <a:latin typeface="Montserrat"/>
                <a:ea typeface="Montserrat"/>
                <a:cs typeface="Montserrat"/>
                <a:sym typeface="Montserrat"/>
              </a:rPr>
              <a:t>1. İçsel (Internal) Doğrulama Olarak Silüet</a:t>
            </a:r>
            <a:endParaRPr b="1" sz="1300">
              <a:solidFill>
                <a:schemeClr val="lt1"/>
              </a:solidFill>
              <a:latin typeface="Montserrat"/>
              <a:ea typeface="Montserrat"/>
              <a:cs typeface="Montserrat"/>
              <a:sym typeface="Montserrat"/>
            </a:endParaRPr>
          </a:p>
          <a:p>
            <a:pPr indent="0" lvl="0" marL="0" rtl="0" algn="l">
              <a:lnSpc>
                <a:spcPct val="115000"/>
              </a:lnSpc>
              <a:spcBef>
                <a:spcPts val="1200"/>
              </a:spcBef>
              <a:spcAft>
                <a:spcPts val="0"/>
              </a:spcAft>
              <a:buNone/>
            </a:pPr>
            <a:r>
              <a:rPr lang="tr" sz="1100">
                <a:solidFill>
                  <a:schemeClr val="lt1"/>
                </a:solidFill>
                <a:latin typeface="Montserrat"/>
                <a:ea typeface="Montserrat"/>
                <a:cs typeface="Montserrat"/>
                <a:sym typeface="Montserrat"/>
              </a:rPr>
              <a:t>Burada Silüet, </a:t>
            </a:r>
            <a:r>
              <a:rPr b="1" lang="tr" sz="1100">
                <a:solidFill>
                  <a:schemeClr val="lt1"/>
                </a:solidFill>
                <a:latin typeface="Montserrat"/>
                <a:ea typeface="Montserrat"/>
                <a:cs typeface="Montserrat"/>
                <a:sym typeface="Montserrat"/>
              </a:rPr>
              <a:t>nihai bir puan</a:t>
            </a:r>
            <a:r>
              <a:rPr lang="tr" sz="1100">
                <a:solidFill>
                  <a:schemeClr val="lt1"/>
                </a:solidFill>
                <a:latin typeface="Montserrat"/>
                <a:ea typeface="Montserrat"/>
                <a:cs typeface="Montserrat"/>
                <a:sym typeface="Montserrat"/>
              </a:rPr>
              <a:t> olarak kullanılır. Algoritma çalışmış ve bitmiştir; siz "Bu kümelendirme ne kadar kaliteli oldu?" diye bakarsınız.</a:t>
            </a:r>
            <a:endParaRPr sz="1100">
              <a:solidFill>
                <a:schemeClr val="lt1"/>
              </a:solidFill>
              <a:latin typeface="Montserrat"/>
              <a:ea typeface="Montserrat"/>
              <a:cs typeface="Montserrat"/>
              <a:sym typeface="Montserrat"/>
            </a:endParaRPr>
          </a:p>
          <a:p>
            <a:pPr indent="-298450" lvl="0" marL="457200" rtl="0" algn="l">
              <a:lnSpc>
                <a:spcPct val="115000"/>
              </a:lnSpc>
              <a:spcBef>
                <a:spcPts val="1200"/>
              </a:spcBef>
              <a:spcAft>
                <a:spcPts val="0"/>
              </a:spcAft>
              <a:buClr>
                <a:schemeClr val="lt1"/>
              </a:buClr>
              <a:buSzPts val="1100"/>
              <a:buChar char="●"/>
            </a:pPr>
            <a:r>
              <a:rPr b="1" lang="tr" sz="1100">
                <a:solidFill>
                  <a:schemeClr val="lt1"/>
                </a:solidFill>
                <a:latin typeface="Montserrat"/>
                <a:ea typeface="Montserrat"/>
                <a:cs typeface="Montserrat"/>
                <a:sym typeface="Montserrat"/>
              </a:rPr>
              <a:t>Kullanım:</a:t>
            </a:r>
            <a:r>
              <a:rPr lang="tr" sz="1100">
                <a:solidFill>
                  <a:schemeClr val="lt1"/>
                </a:solidFill>
                <a:latin typeface="Montserrat"/>
                <a:ea typeface="Montserrat"/>
                <a:cs typeface="Montserrat"/>
                <a:sym typeface="Montserrat"/>
              </a:rPr>
              <a:t> Tek bir kümeleme sonucunun başarısını ölçmek.</a:t>
            </a:r>
            <a:endParaRPr sz="1100">
              <a:solidFill>
                <a:schemeClr val="lt1"/>
              </a:solidFill>
              <a:latin typeface="Montserrat"/>
              <a:ea typeface="Montserrat"/>
              <a:cs typeface="Montserrat"/>
              <a:sym typeface="Montserrat"/>
            </a:endParaRPr>
          </a:p>
          <a:p>
            <a:pPr indent="-298450" lvl="0" marL="457200" rtl="0" algn="l">
              <a:lnSpc>
                <a:spcPct val="115000"/>
              </a:lnSpc>
              <a:spcBef>
                <a:spcPts val="0"/>
              </a:spcBef>
              <a:spcAft>
                <a:spcPts val="0"/>
              </a:spcAft>
              <a:buClr>
                <a:schemeClr val="lt1"/>
              </a:buClr>
              <a:buSzPts val="1100"/>
              <a:buChar char="●"/>
            </a:pPr>
            <a:r>
              <a:rPr b="1" lang="tr" sz="1100">
                <a:solidFill>
                  <a:schemeClr val="lt1"/>
                </a:solidFill>
                <a:latin typeface="Montserrat"/>
                <a:ea typeface="Montserrat"/>
                <a:cs typeface="Montserrat"/>
                <a:sym typeface="Montserrat"/>
              </a:rPr>
              <a:t>Bakılan Şey:</a:t>
            </a:r>
            <a:r>
              <a:rPr lang="tr" sz="1100">
                <a:solidFill>
                  <a:schemeClr val="lt1"/>
                </a:solidFill>
                <a:latin typeface="Montserrat"/>
                <a:ea typeface="Montserrat"/>
                <a:cs typeface="Montserrat"/>
                <a:sym typeface="Montserrat"/>
              </a:rPr>
              <a:t> Puan 1'e ne kadar yakın? (1: Çok iyi, 0: Örtüşen kümeler, -1: Yanlış kümeleme).</a:t>
            </a:r>
            <a:endParaRPr sz="1100">
              <a:solidFill>
                <a:schemeClr val="lt1"/>
              </a:solidFill>
              <a:latin typeface="Montserrat"/>
              <a:ea typeface="Montserrat"/>
              <a:cs typeface="Montserrat"/>
              <a:sym typeface="Montserrat"/>
            </a:endParaRPr>
          </a:p>
          <a:p>
            <a:pPr indent="-298450" lvl="0" marL="457200" rtl="0" algn="l">
              <a:lnSpc>
                <a:spcPct val="115000"/>
              </a:lnSpc>
              <a:spcBef>
                <a:spcPts val="0"/>
              </a:spcBef>
              <a:spcAft>
                <a:spcPts val="0"/>
              </a:spcAft>
              <a:buClr>
                <a:schemeClr val="lt1"/>
              </a:buClr>
              <a:buSzPts val="1100"/>
              <a:buChar char="●"/>
            </a:pPr>
            <a:r>
              <a:rPr b="1" lang="tr" sz="1100">
                <a:solidFill>
                  <a:schemeClr val="lt1"/>
                </a:solidFill>
                <a:latin typeface="Montserrat"/>
                <a:ea typeface="Montserrat"/>
                <a:cs typeface="Montserrat"/>
                <a:sym typeface="Montserrat"/>
              </a:rPr>
              <a:t>Rolü:</a:t>
            </a:r>
            <a:r>
              <a:rPr lang="tr" sz="1100">
                <a:solidFill>
                  <a:schemeClr val="lt1"/>
                </a:solidFill>
                <a:latin typeface="Montserrat"/>
                <a:ea typeface="Montserrat"/>
                <a:cs typeface="Montserrat"/>
                <a:sym typeface="Montserrat"/>
              </a:rPr>
              <a:t> Mevcut durumun fotoğrafını çekmek.</a:t>
            </a:r>
            <a:endParaRPr sz="1100">
              <a:solidFill>
                <a:schemeClr val="lt1"/>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graphicFrame>
        <p:nvGraphicFramePr>
          <p:cNvPr id="304" name="Google Shape;304;p29"/>
          <p:cNvGraphicFramePr/>
          <p:nvPr/>
        </p:nvGraphicFramePr>
        <p:xfrm>
          <a:off x="152400" y="152400"/>
          <a:ext cx="3000000" cy="3000000"/>
        </p:xfrm>
        <a:graphic>
          <a:graphicData uri="http://schemas.openxmlformats.org/drawingml/2006/table">
            <a:tbl>
              <a:tblPr>
                <a:noFill/>
                <a:tableStyleId>{B301936C-C008-4865-88B6-35F832D9229E}</a:tableStyleId>
              </a:tblPr>
              <a:tblGrid>
                <a:gridCol w="1209675"/>
                <a:gridCol w="2476500"/>
                <a:gridCol w="2609850"/>
                <a:gridCol w="2771775"/>
              </a:tblGrid>
              <a:tr h="436125">
                <a:tc>
                  <a:txBody>
                    <a:bodyPr/>
                    <a:lstStyle/>
                    <a:p>
                      <a:pPr indent="0" lvl="0" marL="0" rtl="0" algn="l">
                        <a:lnSpc>
                          <a:spcPct val="115000"/>
                        </a:lnSpc>
                        <a:spcBef>
                          <a:spcPts val="0"/>
                        </a:spcBef>
                        <a:spcAft>
                          <a:spcPts val="0"/>
                        </a:spcAft>
                        <a:buNone/>
                      </a:pPr>
                      <a:r>
                        <a:rPr b="1" lang="tr" sz="1100">
                          <a:solidFill>
                            <a:srgbClr val="1F1F1F"/>
                          </a:solidFill>
                        </a:rPr>
                        <a:t>Özellik</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tr" sz="1100">
                          <a:solidFill>
                            <a:srgbClr val="1F1F1F"/>
                          </a:solidFill>
                        </a:rPr>
                        <a:t>İçsel (Internal) Doğrulama</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tr" sz="1100">
                          <a:solidFill>
                            <a:srgbClr val="1F1F1F"/>
                          </a:solidFill>
                        </a:rPr>
                        <a:t>Dışsal (External) Doğrulama</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tr" sz="1100">
                          <a:solidFill>
                            <a:srgbClr val="1F1F1F"/>
                          </a:solidFill>
                        </a:rPr>
                        <a:t>Göreceli (Relative) Doğrulama</a:t>
                      </a:r>
                      <a:endParaRPr b="1" sz="1100">
                        <a:solidFill>
                          <a:srgbClr val="1F1F1F"/>
                        </a:solidFill>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r>
              <a:tr h="678400">
                <a:tc>
                  <a:txBody>
                    <a:bodyPr/>
                    <a:lstStyle/>
                    <a:p>
                      <a:pPr indent="0" lvl="0" marL="0" rtl="0" algn="l">
                        <a:lnSpc>
                          <a:spcPct val="115000"/>
                        </a:lnSpc>
                        <a:spcBef>
                          <a:spcPts val="0"/>
                        </a:spcBef>
                        <a:spcAft>
                          <a:spcPts val="0"/>
                        </a:spcAft>
                        <a:buNone/>
                      </a:pPr>
                      <a:r>
                        <a:rPr b="1" lang="tr" sz="1100">
                          <a:solidFill>
                            <a:schemeClr val="lt1"/>
                          </a:solidFill>
                          <a:latin typeface="Montserrat"/>
                          <a:ea typeface="Montserrat"/>
                          <a:cs typeface="Montserrat"/>
                          <a:sym typeface="Montserrat"/>
                        </a:rPr>
                        <a:t>Referans Noktası</a:t>
                      </a:r>
                      <a:endParaRPr b="1"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tr" sz="1100">
                          <a:solidFill>
                            <a:schemeClr val="lt1"/>
                          </a:solidFill>
                          <a:latin typeface="Montserrat"/>
                          <a:ea typeface="Montserrat"/>
                          <a:cs typeface="Montserrat"/>
                          <a:sym typeface="Montserrat"/>
                        </a:rPr>
                        <a:t>Veri setinin kendi iç yapısı (mesafeler, yoğunluk).</a:t>
                      </a:r>
                      <a:endParaRPr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tr" sz="1100">
                          <a:solidFill>
                            <a:schemeClr val="lt1"/>
                          </a:solidFill>
                          <a:latin typeface="Montserrat"/>
                          <a:ea typeface="Montserrat"/>
                          <a:cs typeface="Montserrat"/>
                          <a:sym typeface="Montserrat"/>
                        </a:rPr>
                        <a:t>Dışarıdan sağlanan gerçek etiketler (Ground Truth).</a:t>
                      </a:r>
                      <a:endParaRPr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tr" sz="1100">
                          <a:solidFill>
                            <a:schemeClr val="lt1"/>
                          </a:solidFill>
                          <a:latin typeface="Montserrat"/>
                          <a:ea typeface="Montserrat"/>
                          <a:cs typeface="Montserrat"/>
                          <a:sym typeface="Montserrat"/>
                        </a:rPr>
                        <a:t>Farklı algoritma çıktıları veya parametre setleri.</a:t>
                      </a:r>
                      <a:endParaRPr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678400">
                <a:tc>
                  <a:txBody>
                    <a:bodyPr/>
                    <a:lstStyle/>
                    <a:p>
                      <a:pPr indent="0" lvl="0" marL="0" rtl="0" algn="l">
                        <a:lnSpc>
                          <a:spcPct val="115000"/>
                        </a:lnSpc>
                        <a:spcBef>
                          <a:spcPts val="0"/>
                        </a:spcBef>
                        <a:spcAft>
                          <a:spcPts val="0"/>
                        </a:spcAft>
                        <a:buNone/>
                      </a:pPr>
                      <a:r>
                        <a:rPr b="1" lang="tr" sz="1100">
                          <a:solidFill>
                            <a:schemeClr val="lt1"/>
                          </a:solidFill>
                          <a:latin typeface="Montserrat"/>
                          <a:ea typeface="Montserrat"/>
                          <a:cs typeface="Montserrat"/>
                          <a:sym typeface="Montserrat"/>
                        </a:rPr>
                        <a:t>Etiket Gerekli mi?</a:t>
                      </a:r>
                      <a:endParaRPr b="1"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tr" sz="1100">
                          <a:solidFill>
                            <a:schemeClr val="lt1"/>
                          </a:solidFill>
                          <a:latin typeface="Montserrat"/>
                          <a:ea typeface="Montserrat"/>
                          <a:cs typeface="Montserrat"/>
                          <a:sym typeface="Montserrat"/>
                        </a:rPr>
                        <a:t>Hayır.</a:t>
                      </a:r>
                      <a:r>
                        <a:rPr lang="tr" sz="1100">
                          <a:solidFill>
                            <a:schemeClr val="lt1"/>
                          </a:solidFill>
                          <a:latin typeface="Montserrat"/>
                          <a:ea typeface="Montserrat"/>
                          <a:cs typeface="Montserrat"/>
                          <a:sym typeface="Montserrat"/>
                        </a:rPr>
                        <a:t> Denetimsizdir.</a:t>
                      </a:r>
                      <a:endParaRPr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tr" sz="1100">
                          <a:solidFill>
                            <a:schemeClr val="lt1"/>
                          </a:solidFill>
                          <a:latin typeface="Montserrat"/>
                          <a:ea typeface="Montserrat"/>
                          <a:cs typeface="Montserrat"/>
                          <a:sym typeface="Montserrat"/>
                        </a:rPr>
                        <a:t>Evet.</a:t>
                      </a:r>
                      <a:r>
                        <a:rPr lang="tr" sz="1100">
                          <a:solidFill>
                            <a:schemeClr val="lt1"/>
                          </a:solidFill>
                          <a:latin typeface="Montserrat"/>
                          <a:ea typeface="Montserrat"/>
                          <a:cs typeface="Montserrat"/>
                          <a:sym typeface="Montserrat"/>
                        </a:rPr>
                        <a:t> "Altın standart" gerekir.</a:t>
                      </a:r>
                      <a:endParaRPr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tr" sz="1100">
                          <a:solidFill>
                            <a:schemeClr val="lt1"/>
                          </a:solidFill>
                          <a:latin typeface="Montserrat"/>
                          <a:ea typeface="Montserrat"/>
                          <a:cs typeface="Montserrat"/>
                          <a:sym typeface="Montserrat"/>
                        </a:rPr>
                        <a:t>Genellikle hayır (İçsel metrikleri kullanır).</a:t>
                      </a:r>
                      <a:endParaRPr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678400">
                <a:tc>
                  <a:txBody>
                    <a:bodyPr/>
                    <a:lstStyle/>
                    <a:p>
                      <a:pPr indent="0" lvl="0" marL="0" rtl="0" algn="l">
                        <a:lnSpc>
                          <a:spcPct val="115000"/>
                        </a:lnSpc>
                        <a:spcBef>
                          <a:spcPts val="0"/>
                        </a:spcBef>
                        <a:spcAft>
                          <a:spcPts val="0"/>
                        </a:spcAft>
                        <a:buNone/>
                      </a:pPr>
                      <a:r>
                        <a:rPr b="1" lang="tr" sz="1100">
                          <a:solidFill>
                            <a:schemeClr val="lt1"/>
                          </a:solidFill>
                          <a:latin typeface="Montserrat"/>
                          <a:ea typeface="Montserrat"/>
                          <a:cs typeface="Montserrat"/>
                          <a:sym typeface="Montserrat"/>
                        </a:rPr>
                        <a:t>Temel Amaç</a:t>
                      </a:r>
                      <a:endParaRPr b="1"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tr" sz="1100">
                          <a:solidFill>
                            <a:schemeClr val="lt1"/>
                          </a:solidFill>
                          <a:latin typeface="Montserrat"/>
                          <a:ea typeface="Montserrat"/>
                          <a:cs typeface="Montserrat"/>
                          <a:sym typeface="Montserrat"/>
                        </a:rPr>
                        <a:t>Küme içi sıkılığı ve kümeler arası ayrımı ölçmek.</a:t>
                      </a:r>
                      <a:endParaRPr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tr" sz="1100">
                          <a:solidFill>
                            <a:schemeClr val="lt1"/>
                          </a:solidFill>
                          <a:latin typeface="Montserrat"/>
                          <a:ea typeface="Montserrat"/>
                          <a:cs typeface="Montserrat"/>
                          <a:sym typeface="Montserrat"/>
                        </a:rPr>
                        <a:t>Algoritmanın gerçeği ne kadar isabetli bulduğunu ölçmek.</a:t>
                      </a:r>
                      <a:endParaRPr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tr" sz="1100">
                          <a:solidFill>
                            <a:schemeClr val="lt1"/>
                          </a:solidFill>
                          <a:latin typeface="Montserrat"/>
                          <a:ea typeface="Montserrat"/>
                          <a:cs typeface="Montserrat"/>
                          <a:sym typeface="Montserrat"/>
                        </a:rPr>
                        <a:t>Optimum küme sayısını (k) veya parametreyi seçmek.</a:t>
                      </a:r>
                      <a:endParaRPr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678400">
                <a:tc>
                  <a:txBody>
                    <a:bodyPr/>
                    <a:lstStyle/>
                    <a:p>
                      <a:pPr indent="0" lvl="0" marL="0" rtl="0" algn="l">
                        <a:lnSpc>
                          <a:spcPct val="115000"/>
                        </a:lnSpc>
                        <a:spcBef>
                          <a:spcPts val="0"/>
                        </a:spcBef>
                        <a:spcAft>
                          <a:spcPts val="0"/>
                        </a:spcAft>
                        <a:buNone/>
                      </a:pPr>
                      <a:r>
                        <a:rPr b="1" lang="tr" sz="1100">
                          <a:solidFill>
                            <a:schemeClr val="lt1"/>
                          </a:solidFill>
                          <a:latin typeface="Montserrat"/>
                          <a:ea typeface="Montserrat"/>
                          <a:cs typeface="Montserrat"/>
                          <a:sym typeface="Montserrat"/>
                        </a:rPr>
                        <a:t>Popüler Metrikler</a:t>
                      </a:r>
                      <a:endParaRPr b="1"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tr" sz="1100">
                          <a:solidFill>
                            <a:schemeClr val="lt1"/>
                          </a:solidFill>
                          <a:latin typeface="Montserrat"/>
                          <a:ea typeface="Montserrat"/>
                          <a:cs typeface="Montserrat"/>
                          <a:sym typeface="Montserrat"/>
                        </a:rPr>
                        <a:t>Silhouette, Davies-Bouldin, Calinski-Harabasz.</a:t>
                      </a:r>
                      <a:endParaRPr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tr" sz="1100">
                          <a:solidFill>
                            <a:schemeClr val="lt1"/>
                          </a:solidFill>
                          <a:latin typeface="Montserrat"/>
                          <a:ea typeface="Montserrat"/>
                          <a:cs typeface="Montserrat"/>
                          <a:sym typeface="Montserrat"/>
                        </a:rPr>
                        <a:t>ARI (Adjusted Rand Index), NMI, V-Measure.</a:t>
                      </a:r>
                      <a:endParaRPr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tr" sz="1100">
                          <a:solidFill>
                            <a:schemeClr val="lt1"/>
                          </a:solidFill>
                          <a:latin typeface="Montserrat"/>
                          <a:ea typeface="Montserrat"/>
                          <a:cs typeface="Montserrat"/>
                          <a:sym typeface="Montserrat"/>
                        </a:rPr>
                        <a:t>Elbow Method, Gap Statistic, Silhouette Plot.</a:t>
                      </a:r>
                      <a:endParaRPr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920700">
                <a:tc>
                  <a:txBody>
                    <a:bodyPr/>
                    <a:lstStyle/>
                    <a:p>
                      <a:pPr indent="0" lvl="0" marL="0" rtl="0" algn="l">
                        <a:lnSpc>
                          <a:spcPct val="115000"/>
                        </a:lnSpc>
                        <a:spcBef>
                          <a:spcPts val="0"/>
                        </a:spcBef>
                        <a:spcAft>
                          <a:spcPts val="0"/>
                        </a:spcAft>
                        <a:buNone/>
                      </a:pPr>
                      <a:r>
                        <a:rPr b="1" lang="tr" sz="1100">
                          <a:solidFill>
                            <a:schemeClr val="lt1"/>
                          </a:solidFill>
                          <a:latin typeface="Montserrat"/>
                          <a:ea typeface="Montserrat"/>
                          <a:cs typeface="Montserrat"/>
                          <a:sym typeface="Montserrat"/>
                        </a:rPr>
                        <a:t>En Büyük Avantajı</a:t>
                      </a:r>
                      <a:endParaRPr b="1"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tr" sz="1100">
                          <a:solidFill>
                            <a:schemeClr val="lt1"/>
                          </a:solidFill>
                          <a:latin typeface="Montserrat"/>
                          <a:ea typeface="Montserrat"/>
                          <a:cs typeface="Montserrat"/>
                          <a:sym typeface="Montserrat"/>
                        </a:rPr>
                        <a:t>Etiketsiz gerçek dünya verilerinde kullanılabilen tek nesnel yoldur.</a:t>
                      </a:r>
                      <a:endParaRPr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tr" sz="1100">
                          <a:solidFill>
                            <a:schemeClr val="lt1"/>
                          </a:solidFill>
                          <a:latin typeface="Montserrat"/>
                          <a:ea typeface="Montserrat"/>
                          <a:cs typeface="Montserrat"/>
                          <a:sym typeface="Montserrat"/>
                        </a:rPr>
                        <a:t>Tamamen objektiftir; algoritma kıyaslaması (benchmarking) için en güvenilir yoldur.</a:t>
                      </a:r>
                      <a:endParaRPr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tr" sz="1100">
                          <a:solidFill>
                            <a:schemeClr val="lt1"/>
                          </a:solidFill>
                          <a:latin typeface="Montserrat"/>
                          <a:ea typeface="Montserrat"/>
                          <a:cs typeface="Montserrat"/>
                          <a:sym typeface="Montserrat"/>
                        </a:rPr>
                        <a:t>Model seçimi ve hiperparametre optimizasyonu için sistematik yol sunar.</a:t>
                      </a:r>
                      <a:endParaRPr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920700">
                <a:tc>
                  <a:txBody>
                    <a:bodyPr/>
                    <a:lstStyle/>
                    <a:p>
                      <a:pPr indent="0" lvl="0" marL="0" rtl="0" algn="l">
                        <a:lnSpc>
                          <a:spcPct val="115000"/>
                        </a:lnSpc>
                        <a:spcBef>
                          <a:spcPts val="0"/>
                        </a:spcBef>
                        <a:spcAft>
                          <a:spcPts val="0"/>
                        </a:spcAft>
                        <a:buNone/>
                      </a:pPr>
                      <a:r>
                        <a:rPr b="1" lang="tr" sz="1100">
                          <a:solidFill>
                            <a:schemeClr val="lt1"/>
                          </a:solidFill>
                          <a:latin typeface="Montserrat"/>
                          <a:ea typeface="Montserrat"/>
                          <a:cs typeface="Montserrat"/>
                          <a:sym typeface="Montserrat"/>
                        </a:rPr>
                        <a:t>Kısıtlılıkları</a:t>
                      </a:r>
                      <a:endParaRPr b="1"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tr" sz="1100">
                          <a:solidFill>
                            <a:schemeClr val="lt1"/>
                          </a:solidFill>
                          <a:latin typeface="Montserrat"/>
                          <a:ea typeface="Montserrat"/>
                          <a:cs typeface="Montserrat"/>
                          <a:sym typeface="Montserrat"/>
                        </a:rPr>
                        <a:t>Geometrik yapıya (mesafeye) odaklanır; her zaman anlamlı sonuç vermeyebilir.</a:t>
                      </a:r>
                      <a:endParaRPr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tr" sz="1100">
                          <a:solidFill>
                            <a:schemeClr val="lt1"/>
                          </a:solidFill>
                          <a:latin typeface="Montserrat"/>
                          <a:ea typeface="Montserrat"/>
                          <a:cs typeface="Montserrat"/>
                          <a:sym typeface="Montserrat"/>
                        </a:rPr>
                        <a:t>Gerçek etiketlerin her zaman mevcut veya %100 doğru olması gerekir.</a:t>
                      </a:r>
                      <a:endParaRPr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tr" sz="1100">
                          <a:solidFill>
                            <a:schemeClr val="lt1"/>
                          </a:solidFill>
                          <a:latin typeface="Montserrat"/>
                          <a:ea typeface="Montserrat"/>
                          <a:cs typeface="Montserrat"/>
                          <a:sym typeface="Montserrat"/>
                        </a:rPr>
                        <a:t>Hesaplama maliyeti yüksektir; algoritmayı defalarca farklı parametrelerle çalıştırmak gerekir.</a:t>
                      </a:r>
                      <a:endParaRPr sz="1100">
                        <a:solidFill>
                          <a:schemeClr val="lt1"/>
                        </a:solidFill>
                        <a:latin typeface="Montserrat"/>
                        <a:ea typeface="Montserrat"/>
                        <a:cs typeface="Montserrat"/>
                        <a:sym typeface="Montserrat"/>
                      </a:endParaRPr>
                    </a:p>
                  </a:txBody>
                  <a:tcPr marT="76200" marB="76200" marR="114300" marL="114300">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0"/>
          <p:cNvSpPr txBox="1"/>
          <p:nvPr>
            <p:ph type="title"/>
          </p:nvPr>
        </p:nvSpPr>
        <p:spPr>
          <a:xfrm>
            <a:off x="774975" y="146250"/>
            <a:ext cx="30201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tr" sz="3000"/>
              <a:t>R uygulama</a:t>
            </a:r>
            <a:endParaRPr b="1" sz="3000"/>
          </a:p>
        </p:txBody>
      </p:sp>
      <p:sp>
        <p:nvSpPr>
          <p:cNvPr id="310" name="Google Shape;310;p30"/>
          <p:cNvSpPr txBox="1"/>
          <p:nvPr>
            <p:ph idx="1" type="body"/>
          </p:nvPr>
        </p:nvSpPr>
        <p:spPr>
          <a:xfrm>
            <a:off x="4468875" y="412500"/>
            <a:ext cx="4180200" cy="4647600"/>
          </a:xfrm>
          <a:prstGeom prst="rect">
            <a:avLst/>
          </a:prstGeom>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None/>
            </a:pPr>
            <a:r>
              <a:rPr b="1" lang="tr" sz="2000">
                <a:latin typeface="Montserrat"/>
                <a:ea typeface="Montserrat"/>
                <a:cs typeface="Montserrat"/>
                <a:sym typeface="Montserrat"/>
              </a:rPr>
              <a:t>Veri Setimi Tanıyalım: Global Timsah Türleri</a:t>
            </a:r>
            <a:endParaRPr b="1" sz="2000">
              <a:latin typeface="Montserrat"/>
              <a:ea typeface="Montserrat"/>
              <a:cs typeface="Montserrat"/>
              <a:sym typeface="Montserrat"/>
            </a:endParaRPr>
          </a:p>
          <a:p>
            <a:pPr indent="0" lvl="0" marL="0" rtl="0" algn="l">
              <a:lnSpc>
                <a:spcPct val="100000"/>
              </a:lnSpc>
              <a:spcBef>
                <a:spcPts val="0"/>
              </a:spcBef>
              <a:spcAft>
                <a:spcPts val="0"/>
              </a:spcAft>
              <a:buNone/>
            </a:pPr>
            <a:r>
              <a:t/>
            </a:r>
            <a:endParaRPr b="1" sz="2000">
              <a:latin typeface="Montserrat"/>
              <a:ea typeface="Montserrat"/>
              <a:cs typeface="Montserrat"/>
              <a:sym typeface="Montserrat"/>
            </a:endParaRPr>
          </a:p>
          <a:p>
            <a:pPr indent="0" lvl="0" marL="0" rtl="0" algn="l">
              <a:lnSpc>
                <a:spcPct val="100000"/>
              </a:lnSpc>
              <a:spcBef>
                <a:spcPts val="0"/>
              </a:spcBef>
              <a:spcAft>
                <a:spcPts val="0"/>
              </a:spcAft>
              <a:buNone/>
            </a:pPr>
            <a:r>
              <a:rPr lang="tr" sz="1600"/>
              <a:t> </a:t>
            </a:r>
            <a:r>
              <a:rPr lang="tr" sz="1700"/>
              <a:t>Bu veri seti, dünya çapında tanınan tüm timsah türleri hakkında ayrıntılı bilgi sağlar.</a:t>
            </a:r>
            <a:endParaRPr sz="1700"/>
          </a:p>
          <a:p>
            <a:pPr indent="-336550" lvl="0" marL="457200" rtl="0" algn="l">
              <a:lnSpc>
                <a:spcPct val="100000"/>
              </a:lnSpc>
              <a:spcBef>
                <a:spcPts val="0"/>
              </a:spcBef>
              <a:spcAft>
                <a:spcPts val="0"/>
              </a:spcAft>
              <a:buClr>
                <a:schemeClr val="lt1"/>
              </a:buClr>
              <a:buSzPts val="1700"/>
              <a:buFont typeface="Lato"/>
              <a:buChar char="●"/>
            </a:pPr>
            <a:r>
              <a:rPr lang="tr" sz="1700"/>
              <a:t>Gözlem ID’si</a:t>
            </a:r>
            <a:endParaRPr sz="1700"/>
          </a:p>
          <a:p>
            <a:pPr indent="-336550" lvl="0" marL="457200" rtl="0" algn="l">
              <a:lnSpc>
                <a:spcPct val="100000"/>
              </a:lnSpc>
              <a:spcBef>
                <a:spcPts val="0"/>
              </a:spcBef>
              <a:spcAft>
                <a:spcPts val="0"/>
              </a:spcAft>
              <a:buClr>
                <a:schemeClr val="lt1"/>
              </a:buClr>
              <a:buSzPts val="1700"/>
              <a:buFont typeface="Lato"/>
              <a:buChar char="●"/>
            </a:pPr>
            <a:r>
              <a:rPr lang="tr" sz="1700"/>
              <a:t>Yaygın Ad</a:t>
            </a:r>
            <a:endParaRPr sz="1700"/>
          </a:p>
          <a:p>
            <a:pPr indent="-336550" lvl="0" marL="457200" rtl="0" algn="l">
              <a:lnSpc>
                <a:spcPct val="100000"/>
              </a:lnSpc>
              <a:spcBef>
                <a:spcPts val="0"/>
              </a:spcBef>
              <a:spcAft>
                <a:spcPts val="0"/>
              </a:spcAft>
              <a:buClr>
                <a:schemeClr val="lt1"/>
              </a:buClr>
              <a:buSzPts val="1700"/>
              <a:buFont typeface="Lato"/>
              <a:buChar char="●"/>
            </a:pPr>
            <a:r>
              <a:rPr lang="tr" sz="1700"/>
              <a:t>Bilimsel(Latince) Ad</a:t>
            </a:r>
            <a:endParaRPr sz="1700"/>
          </a:p>
          <a:p>
            <a:pPr indent="-336550" lvl="0" marL="457200" rtl="0" algn="l">
              <a:lnSpc>
                <a:spcPct val="100000"/>
              </a:lnSpc>
              <a:spcBef>
                <a:spcPts val="0"/>
              </a:spcBef>
              <a:spcAft>
                <a:spcPts val="0"/>
              </a:spcAft>
              <a:buClr>
                <a:schemeClr val="lt1"/>
              </a:buClr>
              <a:buSzPts val="1700"/>
              <a:buFont typeface="Lato"/>
              <a:buChar char="●"/>
            </a:pPr>
            <a:r>
              <a:rPr lang="tr" sz="1700"/>
              <a:t>Ait olduğu Familya</a:t>
            </a:r>
            <a:endParaRPr sz="1700"/>
          </a:p>
          <a:p>
            <a:pPr indent="-336550" lvl="0" marL="457200" rtl="0" algn="l">
              <a:lnSpc>
                <a:spcPct val="100000"/>
              </a:lnSpc>
              <a:spcBef>
                <a:spcPts val="0"/>
              </a:spcBef>
              <a:spcAft>
                <a:spcPts val="0"/>
              </a:spcAft>
              <a:buClr>
                <a:schemeClr val="lt1"/>
              </a:buClr>
              <a:buSzPts val="1700"/>
              <a:buFont typeface="Lato"/>
              <a:buChar char="●"/>
            </a:pPr>
            <a:r>
              <a:rPr lang="tr" sz="1700"/>
              <a:t>Cins</a:t>
            </a:r>
            <a:endParaRPr sz="1700"/>
          </a:p>
          <a:p>
            <a:pPr indent="-336550" lvl="0" marL="457200" rtl="0" algn="l">
              <a:lnSpc>
                <a:spcPct val="100000"/>
              </a:lnSpc>
              <a:spcBef>
                <a:spcPts val="0"/>
              </a:spcBef>
              <a:spcAft>
                <a:spcPts val="0"/>
              </a:spcAft>
              <a:buClr>
                <a:schemeClr val="lt1"/>
              </a:buClr>
              <a:buSzPts val="1700"/>
              <a:buFont typeface="Lato"/>
              <a:buChar char="●"/>
            </a:pPr>
            <a:r>
              <a:rPr lang="tr" sz="1700"/>
              <a:t>Gözlemlenen Boy(m)</a:t>
            </a:r>
            <a:endParaRPr sz="1700"/>
          </a:p>
          <a:p>
            <a:pPr indent="-336550" lvl="0" marL="457200" rtl="0" algn="l">
              <a:lnSpc>
                <a:spcPct val="100000"/>
              </a:lnSpc>
              <a:spcBef>
                <a:spcPts val="0"/>
              </a:spcBef>
              <a:spcAft>
                <a:spcPts val="0"/>
              </a:spcAft>
              <a:buClr>
                <a:schemeClr val="lt1"/>
              </a:buClr>
              <a:buSzPts val="1700"/>
              <a:buFont typeface="Lato"/>
              <a:buChar char="●"/>
            </a:pPr>
            <a:r>
              <a:rPr lang="tr" sz="1700"/>
              <a:t>Gözlemlenen Kilo(kg)</a:t>
            </a:r>
            <a:endParaRPr sz="1700"/>
          </a:p>
          <a:p>
            <a:pPr indent="-336550" lvl="0" marL="457200" rtl="0" algn="l">
              <a:lnSpc>
                <a:spcPct val="100000"/>
              </a:lnSpc>
              <a:spcBef>
                <a:spcPts val="0"/>
              </a:spcBef>
              <a:spcAft>
                <a:spcPts val="0"/>
              </a:spcAft>
              <a:buClr>
                <a:schemeClr val="lt1"/>
              </a:buClr>
              <a:buSzPts val="1700"/>
              <a:buFont typeface="Lato"/>
              <a:buChar char="●"/>
            </a:pPr>
            <a:r>
              <a:rPr lang="tr" sz="1700"/>
              <a:t>Yaş Grubu</a:t>
            </a:r>
            <a:endParaRPr sz="1700"/>
          </a:p>
          <a:p>
            <a:pPr indent="-336550" lvl="0" marL="457200" rtl="0" algn="l">
              <a:lnSpc>
                <a:spcPct val="100000"/>
              </a:lnSpc>
              <a:spcBef>
                <a:spcPts val="0"/>
              </a:spcBef>
              <a:spcAft>
                <a:spcPts val="0"/>
              </a:spcAft>
              <a:buClr>
                <a:schemeClr val="lt1"/>
              </a:buClr>
              <a:buSzPts val="1700"/>
              <a:buFont typeface="Lato"/>
              <a:buChar char="●"/>
            </a:pPr>
            <a:r>
              <a:rPr lang="tr" sz="1700"/>
              <a:t>Cinsiyet</a:t>
            </a:r>
            <a:endParaRPr sz="1700"/>
          </a:p>
          <a:p>
            <a:pPr indent="-336550" lvl="0" marL="457200" rtl="0" algn="l">
              <a:lnSpc>
                <a:spcPct val="100000"/>
              </a:lnSpc>
              <a:spcBef>
                <a:spcPts val="0"/>
              </a:spcBef>
              <a:spcAft>
                <a:spcPts val="0"/>
              </a:spcAft>
              <a:buClr>
                <a:schemeClr val="lt1"/>
              </a:buClr>
              <a:buSzPts val="1700"/>
              <a:buFont typeface="Lato"/>
              <a:buChar char="●"/>
            </a:pPr>
            <a:r>
              <a:rPr lang="tr" sz="1700"/>
              <a:t>Gözlemlenen Ülke</a:t>
            </a:r>
            <a:endParaRPr sz="1700"/>
          </a:p>
          <a:p>
            <a:pPr indent="-336550" lvl="0" marL="457200" rtl="0" algn="l">
              <a:lnSpc>
                <a:spcPct val="100000"/>
              </a:lnSpc>
              <a:spcBef>
                <a:spcPts val="0"/>
              </a:spcBef>
              <a:spcAft>
                <a:spcPts val="0"/>
              </a:spcAft>
              <a:buClr>
                <a:schemeClr val="lt1"/>
              </a:buClr>
              <a:buSzPts val="1700"/>
              <a:buFont typeface="Lato"/>
              <a:buChar char="●"/>
            </a:pPr>
            <a:r>
              <a:rPr lang="tr" sz="1700"/>
              <a:t>Yaşam Alanı</a:t>
            </a:r>
            <a:endParaRPr sz="1700"/>
          </a:p>
          <a:p>
            <a:pPr indent="-336550" lvl="0" marL="457200" rtl="0" algn="l">
              <a:lnSpc>
                <a:spcPct val="100000"/>
              </a:lnSpc>
              <a:spcBef>
                <a:spcPts val="0"/>
              </a:spcBef>
              <a:spcAft>
                <a:spcPts val="0"/>
              </a:spcAft>
              <a:buClr>
                <a:schemeClr val="lt1"/>
              </a:buClr>
              <a:buSzPts val="1700"/>
              <a:buFont typeface="Lato"/>
              <a:buChar char="●"/>
            </a:pPr>
            <a:r>
              <a:rPr lang="tr" sz="1700"/>
              <a:t>Korunma Durumu (türünün tehlike altında olup olmadığı) gibi değişkenlere sahip 1000 adet gözlem içerir.</a:t>
            </a:r>
            <a:endParaRPr sz="1700"/>
          </a:p>
        </p:txBody>
      </p:sp>
      <p:pic>
        <p:nvPicPr>
          <p:cNvPr id="311" name="Google Shape;311;p30"/>
          <p:cNvPicPr preferRelativeResize="0"/>
          <p:nvPr/>
        </p:nvPicPr>
        <p:blipFill>
          <a:blip r:embed="rId3">
            <a:alphaModFix/>
          </a:blip>
          <a:stretch>
            <a:fillRect/>
          </a:stretch>
        </p:blipFill>
        <p:spPr>
          <a:xfrm>
            <a:off x="215350" y="1533350"/>
            <a:ext cx="3867600" cy="33742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1"/>
          <p:cNvSpPr txBox="1"/>
          <p:nvPr>
            <p:ph type="ctrTitle"/>
          </p:nvPr>
        </p:nvSpPr>
        <p:spPr>
          <a:xfrm>
            <a:off x="2979900" y="1656675"/>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tr" sz="3800"/>
              <a:t>İçsel Geçerlilik (Internal Validity)</a:t>
            </a:r>
            <a:endParaRPr b="1" i="1" sz="3800"/>
          </a:p>
        </p:txBody>
      </p:sp>
      <p:sp>
        <p:nvSpPr>
          <p:cNvPr id="317" name="Google Shape;317;p31"/>
          <p:cNvSpPr txBox="1"/>
          <p:nvPr/>
        </p:nvSpPr>
        <p:spPr>
          <a:xfrm>
            <a:off x="1146600" y="3361200"/>
            <a:ext cx="6850800" cy="60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a:solidFill>
                  <a:schemeClr val="lt1"/>
                </a:solidFill>
                <a:latin typeface="Lato"/>
                <a:ea typeface="Lato"/>
                <a:cs typeface="Lato"/>
                <a:sym typeface="Lato"/>
              </a:rPr>
              <a:t> Verinin kendi içindeki yapısına bakarak "Bu kümeleme geçerli mi?" diye sorduğumuz durum. (Örnek: Silüet, Dunn)</a:t>
            </a:r>
            <a:endParaRPr>
              <a:solidFill>
                <a:schemeClr val="lt1"/>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2"/>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tr" sz="2500"/>
              <a:t>K-Seçimine Göre Silüet ve Dunn Değerleri</a:t>
            </a:r>
            <a:endParaRPr b="1" sz="2500"/>
          </a:p>
        </p:txBody>
      </p:sp>
      <p:sp>
        <p:nvSpPr>
          <p:cNvPr id="323" name="Google Shape;323;p32"/>
          <p:cNvSpPr txBox="1"/>
          <p:nvPr>
            <p:ph idx="1" type="body"/>
          </p:nvPr>
        </p:nvSpPr>
        <p:spPr>
          <a:xfrm>
            <a:off x="6611950" y="1414150"/>
            <a:ext cx="2434200" cy="3533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tr"/>
              <a:t>Dunn neden az kullanılır?</a:t>
            </a:r>
            <a:endParaRPr b="1"/>
          </a:p>
          <a:p>
            <a:pPr indent="-298450" lvl="0" marL="457200" rtl="0" algn="l">
              <a:spcBef>
                <a:spcPts val="1200"/>
              </a:spcBef>
              <a:spcAft>
                <a:spcPts val="0"/>
              </a:spcAft>
              <a:buSzPts val="1100"/>
              <a:buFont typeface="Arial"/>
              <a:buChar char="●"/>
            </a:pPr>
            <a:r>
              <a:rPr lang="tr" sz="1100">
                <a:latin typeface="Arial"/>
                <a:ea typeface="Arial"/>
                <a:cs typeface="Arial"/>
                <a:sym typeface="Arial"/>
              </a:rPr>
              <a:t>Aykırı değerlere </a:t>
            </a:r>
            <a:r>
              <a:rPr b="1" lang="tr" sz="1100">
                <a:latin typeface="Arial"/>
                <a:ea typeface="Arial"/>
                <a:cs typeface="Arial"/>
                <a:sym typeface="Arial"/>
              </a:rPr>
              <a:t>çok hassas</a:t>
            </a:r>
            <a:endParaRPr b="1" sz="1100">
              <a:latin typeface="Arial"/>
              <a:ea typeface="Arial"/>
              <a:cs typeface="Arial"/>
              <a:sym typeface="Arial"/>
            </a:endParaRPr>
          </a:p>
          <a:p>
            <a:pPr indent="-298450" lvl="0" marL="457200" rtl="0" algn="l">
              <a:spcBef>
                <a:spcPts val="0"/>
              </a:spcBef>
              <a:spcAft>
                <a:spcPts val="0"/>
              </a:spcAft>
              <a:buSzPts val="1100"/>
              <a:buFont typeface="Arial"/>
              <a:buChar char="●"/>
            </a:pPr>
            <a:r>
              <a:rPr lang="tr" sz="1100">
                <a:latin typeface="Arial"/>
                <a:ea typeface="Arial"/>
                <a:cs typeface="Arial"/>
                <a:sym typeface="Arial"/>
              </a:rPr>
              <a:t>Hesaplama maliyeti yüksek (O(n²))</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tr" sz="1100">
                <a:latin typeface="Arial"/>
                <a:ea typeface="Arial"/>
                <a:cs typeface="Arial"/>
                <a:sym typeface="Arial"/>
              </a:rPr>
              <a:t>Büyük veri setlerinde yavaş</a:t>
            </a:r>
            <a:endParaRPr sz="1100">
              <a:latin typeface="Arial"/>
              <a:ea typeface="Arial"/>
              <a:cs typeface="Arial"/>
              <a:sym typeface="Arial"/>
            </a:endParaRPr>
          </a:p>
          <a:p>
            <a:pPr indent="0" lvl="0" marL="0" rtl="0" algn="l">
              <a:spcBef>
                <a:spcPts val="1200"/>
              </a:spcBef>
              <a:spcAft>
                <a:spcPts val="1200"/>
              </a:spcAft>
              <a:buNone/>
            </a:pPr>
            <a:r>
              <a:rPr lang="tr">
                <a:latin typeface="Arial"/>
                <a:ea typeface="Arial"/>
                <a:cs typeface="Arial"/>
                <a:sym typeface="Arial"/>
              </a:rPr>
              <a:t> Bu analizde amaç sadece matematiksel maksimumu değil, </a:t>
            </a:r>
            <a:r>
              <a:rPr b="1" lang="tr">
                <a:latin typeface="Arial"/>
                <a:ea typeface="Arial"/>
                <a:cs typeface="Arial"/>
                <a:sym typeface="Arial"/>
              </a:rPr>
              <a:t>yorumlanabilir ve istatistiksel olarak anlamlı</a:t>
            </a:r>
            <a:r>
              <a:rPr lang="tr">
                <a:latin typeface="Arial"/>
                <a:ea typeface="Arial"/>
                <a:cs typeface="Arial"/>
                <a:sym typeface="Arial"/>
              </a:rPr>
              <a:t> küme yapısını seçmektir. Bu nedenle </a:t>
            </a:r>
            <a:r>
              <a:rPr b="1" lang="tr">
                <a:latin typeface="Arial"/>
                <a:ea typeface="Arial"/>
                <a:cs typeface="Arial"/>
                <a:sym typeface="Arial"/>
              </a:rPr>
              <a:t>k = 3</a:t>
            </a:r>
            <a:r>
              <a:rPr lang="tr">
                <a:latin typeface="Arial"/>
                <a:ea typeface="Arial"/>
                <a:cs typeface="Arial"/>
                <a:sym typeface="Arial"/>
              </a:rPr>
              <a:t> en uygun tercihtir.</a:t>
            </a:r>
            <a:endParaRPr sz="1500"/>
          </a:p>
        </p:txBody>
      </p:sp>
      <p:pic>
        <p:nvPicPr>
          <p:cNvPr id="324" name="Google Shape;324;p32"/>
          <p:cNvPicPr preferRelativeResize="0"/>
          <p:nvPr/>
        </p:nvPicPr>
        <p:blipFill>
          <a:blip r:embed="rId3">
            <a:alphaModFix/>
          </a:blip>
          <a:stretch>
            <a:fillRect/>
          </a:stretch>
        </p:blipFill>
        <p:spPr>
          <a:xfrm>
            <a:off x="297460" y="1414150"/>
            <a:ext cx="6240424" cy="35330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tr" sz="2500"/>
              <a:t>Kalite Analizleri</a:t>
            </a:r>
            <a:endParaRPr b="1" sz="2500"/>
          </a:p>
        </p:txBody>
      </p:sp>
      <p:pic>
        <p:nvPicPr>
          <p:cNvPr id="330" name="Google Shape;330;p33"/>
          <p:cNvPicPr preferRelativeResize="0"/>
          <p:nvPr/>
        </p:nvPicPr>
        <p:blipFill>
          <a:blip r:embed="rId3">
            <a:alphaModFix/>
          </a:blip>
          <a:stretch>
            <a:fillRect/>
          </a:stretch>
        </p:blipFill>
        <p:spPr>
          <a:xfrm>
            <a:off x="1052551" y="1149252"/>
            <a:ext cx="7038900" cy="399424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a:t>Calinski-Harabasz Index Karşılaştırması</a:t>
            </a:r>
            <a:endParaRPr/>
          </a:p>
        </p:txBody>
      </p:sp>
      <p:sp>
        <p:nvSpPr>
          <p:cNvPr id="336" name="Google Shape;336;p34"/>
          <p:cNvSpPr txBox="1"/>
          <p:nvPr>
            <p:ph idx="1" type="body"/>
          </p:nvPr>
        </p:nvSpPr>
        <p:spPr>
          <a:xfrm>
            <a:off x="6093675" y="1417725"/>
            <a:ext cx="3050400" cy="373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a:t> Diğer adıyla Varyans Oran Kritiği olarak da bilinir. Temel olarak kümelerin kendi içlerinde ne kadar sıkı (Compact) ve birbirlerinden ne kadar uzak (Seperated) olduğunu ölçer.</a:t>
            </a:r>
            <a:endParaRPr/>
          </a:p>
          <a:p>
            <a:pPr indent="0" lvl="0" marL="0" rtl="0" algn="l">
              <a:spcBef>
                <a:spcPts val="1200"/>
              </a:spcBef>
              <a:spcAft>
                <a:spcPts val="1200"/>
              </a:spcAft>
              <a:buNone/>
            </a:pPr>
            <a:r>
              <a:rPr lang="tr"/>
              <a:t> Bu indeks istatistikteki F testine benzer bir mantıkta çalışır. 2 Temel varyans değerini oranlar.</a:t>
            </a:r>
            <a:endParaRPr/>
          </a:p>
        </p:txBody>
      </p:sp>
      <p:pic>
        <p:nvPicPr>
          <p:cNvPr id="337" name="Google Shape;337;p34"/>
          <p:cNvPicPr preferRelativeResize="0"/>
          <p:nvPr/>
        </p:nvPicPr>
        <p:blipFill>
          <a:blip r:embed="rId3">
            <a:alphaModFix/>
          </a:blip>
          <a:stretch>
            <a:fillRect/>
          </a:stretch>
        </p:blipFill>
        <p:spPr>
          <a:xfrm>
            <a:off x="0" y="1417625"/>
            <a:ext cx="6093675" cy="3733049"/>
          </a:xfrm>
          <a:prstGeom prst="rect">
            <a:avLst/>
          </a:prstGeom>
          <a:noFill/>
          <a:ln>
            <a:noFill/>
          </a:ln>
        </p:spPr>
      </p:pic>
      <p:pic>
        <p:nvPicPr>
          <p:cNvPr id="338" name="Google Shape;338;p34"/>
          <p:cNvPicPr preferRelativeResize="0"/>
          <p:nvPr/>
        </p:nvPicPr>
        <p:blipFill>
          <a:blip r:embed="rId4">
            <a:alphaModFix/>
          </a:blip>
          <a:stretch>
            <a:fillRect/>
          </a:stretch>
        </p:blipFill>
        <p:spPr>
          <a:xfrm>
            <a:off x="6093673" y="4386812"/>
            <a:ext cx="3050400" cy="756688"/>
          </a:xfrm>
          <a:prstGeom prst="rect">
            <a:avLst/>
          </a:prstGeom>
          <a:noFill/>
          <a:ln>
            <a:noFill/>
          </a:ln>
        </p:spPr>
      </p:pic>
      <p:pic>
        <p:nvPicPr>
          <p:cNvPr id="339" name="Google Shape;339;p34"/>
          <p:cNvPicPr preferRelativeResize="0"/>
          <p:nvPr/>
        </p:nvPicPr>
        <p:blipFill>
          <a:blip r:embed="rId5">
            <a:alphaModFix/>
          </a:blip>
          <a:stretch>
            <a:fillRect/>
          </a:stretch>
        </p:blipFill>
        <p:spPr>
          <a:xfrm>
            <a:off x="6485400" y="3630100"/>
            <a:ext cx="2266950" cy="756700"/>
          </a:xfrm>
          <a:prstGeom prst="rect">
            <a:avLst/>
          </a:prstGeom>
          <a:noFill/>
          <a:ln>
            <a:noFill/>
          </a:ln>
        </p:spPr>
      </p:pic>
      <p:pic>
        <p:nvPicPr>
          <p:cNvPr id="340" name="Google Shape;340;p34"/>
          <p:cNvPicPr preferRelativeResize="0"/>
          <p:nvPr/>
        </p:nvPicPr>
        <p:blipFill>
          <a:blip r:embed="rId6">
            <a:alphaModFix/>
          </a:blip>
          <a:stretch>
            <a:fillRect/>
          </a:stretch>
        </p:blipFill>
        <p:spPr>
          <a:xfrm>
            <a:off x="4001662" y="3053075"/>
            <a:ext cx="2092024" cy="20975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5"/>
          <p:cNvSpPr txBox="1"/>
          <p:nvPr>
            <p:ph type="ctrTitle"/>
          </p:nvPr>
        </p:nvSpPr>
        <p:spPr>
          <a:xfrm>
            <a:off x="2971725" y="1617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tr" sz="3800"/>
              <a:t>Göreceli Geçerlilik (Relative Validity)</a:t>
            </a:r>
            <a:endParaRPr b="1" i="1" sz="3600"/>
          </a:p>
        </p:txBody>
      </p:sp>
      <p:sp>
        <p:nvSpPr>
          <p:cNvPr id="346" name="Google Shape;346;p35"/>
          <p:cNvSpPr txBox="1"/>
          <p:nvPr/>
        </p:nvSpPr>
        <p:spPr>
          <a:xfrm>
            <a:off x="1131000" y="3196300"/>
            <a:ext cx="6882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tr">
                <a:solidFill>
                  <a:schemeClr val="lt1"/>
                </a:solidFill>
                <a:latin typeface="Lato"/>
                <a:ea typeface="Lato"/>
                <a:cs typeface="Lato"/>
                <a:sym typeface="Lato"/>
              </a:rPr>
              <a:t> Farklı küme sayılarını kıyaslayarak "Hangisi daha geçerli?" </a:t>
            </a:r>
            <a:r>
              <a:rPr lang="tr">
                <a:solidFill>
                  <a:schemeClr val="lt1"/>
                </a:solidFill>
                <a:latin typeface="Lato"/>
                <a:ea typeface="Lato"/>
                <a:cs typeface="Lato"/>
                <a:sym typeface="Lato"/>
              </a:rPr>
              <a:t>diye sorduğumuz durum</a:t>
            </a:r>
            <a:r>
              <a:rPr lang="tr">
                <a:solidFill>
                  <a:schemeClr val="lt1"/>
                </a:solidFill>
                <a:latin typeface="Lato"/>
                <a:ea typeface="Lato"/>
                <a:cs typeface="Lato"/>
                <a:sym typeface="Lato"/>
              </a:rPr>
              <a:t>. (Örnek: Gap İstatistiği, Elbow)</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tr" sz="2500"/>
              <a:t>Elbow</a:t>
            </a:r>
            <a:endParaRPr b="1" sz="2500"/>
          </a:p>
        </p:txBody>
      </p:sp>
      <p:pic>
        <p:nvPicPr>
          <p:cNvPr id="352" name="Google Shape;352;p36" title="Code_Generated_Image (5).png"/>
          <p:cNvPicPr preferRelativeResize="0"/>
          <p:nvPr/>
        </p:nvPicPr>
        <p:blipFill>
          <a:blip r:embed="rId3">
            <a:alphaModFix/>
          </a:blip>
          <a:stretch>
            <a:fillRect/>
          </a:stretch>
        </p:blipFill>
        <p:spPr>
          <a:xfrm>
            <a:off x="1435464" y="1234025"/>
            <a:ext cx="6273075" cy="37638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tr" sz="2500"/>
              <a:t>Gap İstatistiği</a:t>
            </a:r>
            <a:endParaRPr b="1" sz="2500"/>
          </a:p>
        </p:txBody>
      </p:sp>
      <p:sp>
        <p:nvSpPr>
          <p:cNvPr id="358" name="Google Shape;358;p37"/>
          <p:cNvSpPr txBox="1"/>
          <p:nvPr>
            <p:ph idx="1" type="body"/>
          </p:nvPr>
        </p:nvSpPr>
        <p:spPr>
          <a:xfrm>
            <a:off x="6148650" y="1421575"/>
            <a:ext cx="2913300" cy="3722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a:t> Elbow Methodu’nun zayıf kaldığı anlarda yardıma yetişir. </a:t>
            </a:r>
            <a:r>
              <a:rPr b="1" lang="tr"/>
              <a:t>Elbow’un aksine daha bilimsel yaklaşır.</a:t>
            </a:r>
            <a:endParaRPr b="1"/>
          </a:p>
          <a:p>
            <a:pPr indent="0" lvl="0" marL="0" rtl="0" algn="l">
              <a:spcBef>
                <a:spcPts val="1200"/>
              </a:spcBef>
              <a:spcAft>
                <a:spcPts val="0"/>
              </a:spcAft>
              <a:buNone/>
            </a:pPr>
            <a:r>
              <a:rPr b="1" lang="tr"/>
              <a:t> </a:t>
            </a:r>
            <a:r>
              <a:rPr lang="tr"/>
              <a:t>Veri setinin kümeleme başarısını rastgele üretilmiş (Referans) bir dağılımla karşılaştırır.</a:t>
            </a:r>
            <a:endParaRPr/>
          </a:p>
          <a:p>
            <a:pPr indent="0" lvl="0" marL="0" rtl="0" algn="l">
              <a:spcBef>
                <a:spcPts val="1200"/>
              </a:spcBef>
              <a:spcAft>
                <a:spcPts val="0"/>
              </a:spcAft>
              <a:buNone/>
            </a:pPr>
            <a:r>
              <a:rPr b="1" lang="tr"/>
              <a:t>Temel Mantık:</a:t>
            </a:r>
            <a:r>
              <a:rPr lang="tr"/>
              <a:t> Gerçek verinin hatasını yani (log Wk) rastgele hatanın verisine bakar.</a:t>
            </a:r>
            <a:endParaRPr/>
          </a:p>
          <a:p>
            <a:pPr indent="0" lvl="0" marL="0" rtl="0" algn="l">
              <a:spcBef>
                <a:spcPts val="1200"/>
              </a:spcBef>
              <a:spcAft>
                <a:spcPts val="1200"/>
              </a:spcAft>
              <a:buNone/>
            </a:pPr>
            <a:r>
              <a:rPr lang="tr"/>
              <a:t>Gap değeri ne kadar yüksekse kümeleme rastgelelikten o kadar uzaktır.</a:t>
            </a:r>
            <a:endParaRPr/>
          </a:p>
        </p:txBody>
      </p:sp>
      <p:pic>
        <p:nvPicPr>
          <p:cNvPr id="359" name="Google Shape;359;p37" title="Code_Generated_Image (6).png"/>
          <p:cNvPicPr preferRelativeResize="0"/>
          <p:nvPr/>
        </p:nvPicPr>
        <p:blipFill>
          <a:blip r:embed="rId3">
            <a:alphaModFix/>
          </a:blip>
          <a:stretch>
            <a:fillRect/>
          </a:stretch>
        </p:blipFill>
        <p:spPr>
          <a:xfrm>
            <a:off x="0" y="1454315"/>
            <a:ext cx="6148650" cy="3689185"/>
          </a:xfrm>
          <a:prstGeom prst="rect">
            <a:avLst/>
          </a:prstGeom>
          <a:noFill/>
          <a:ln>
            <a:noFill/>
          </a:ln>
        </p:spPr>
      </p:pic>
      <p:pic>
        <p:nvPicPr>
          <p:cNvPr id="360" name="Google Shape;360;p37"/>
          <p:cNvPicPr preferRelativeResize="0"/>
          <p:nvPr/>
        </p:nvPicPr>
        <p:blipFill>
          <a:blip r:embed="rId4">
            <a:alphaModFix/>
          </a:blip>
          <a:stretch>
            <a:fillRect/>
          </a:stretch>
        </p:blipFill>
        <p:spPr>
          <a:xfrm>
            <a:off x="6377525" y="4741575"/>
            <a:ext cx="2455550" cy="4021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8"/>
          <p:cNvSpPr txBox="1"/>
          <p:nvPr>
            <p:ph type="ctrTitle"/>
          </p:nvPr>
        </p:nvSpPr>
        <p:spPr>
          <a:xfrm>
            <a:off x="2971750" y="16017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tr" sz="3800"/>
              <a:t>Dışsal Geçerlilik (External Validity)</a:t>
            </a:r>
            <a:endParaRPr b="1" i="1" sz="3600"/>
          </a:p>
        </p:txBody>
      </p:sp>
      <p:sp>
        <p:nvSpPr>
          <p:cNvPr id="366" name="Google Shape;366;p38"/>
          <p:cNvSpPr txBox="1"/>
          <p:nvPr/>
        </p:nvSpPr>
        <p:spPr>
          <a:xfrm>
            <a:off x="1013050" y="3180600"/>
            <a:ext cx="6976200" cy="65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a:solidFill>
                  <a:schemeClr val="lt1"/>
                </a:solidFill>
                <a:latin typeface="Lato"/>
                <a:ea typeface="Lato"/>
                <a:cs typeface="Lato"/>
                <a:sym typeface="Lato"/>
              </a:rPr>
              <a:t> Gerçek etiketlerle (Yaş Sınıfı) kıyaslayarak "Gerçek hayata göre geçerli mi?" dedik. (Örnek: ARI)</a:t>
            </a:r>
            <a:endParaRPr>
              <a:solidFill>
                <a:schemeClr val="lt1"/>
              </a:solidFill>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9"/>
          <p:cNvSpPr txBox="1"/>
          <p:nvPr>
            <p:ph type="title"/>
          </p:nvPr>
        </p:nvSpPr>
        <p:spPr>
          <a:xfrm>
            <a:off x="1297500" y="393750"/>
            <a:ext cx="77034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tr" sz="2622"/>
              <a:t>ARI (</a:t>
            </a:r>
            <a:r>
              <a:rPr b="1" lang="tr" sz="2622"/>
              <a:t>Adjusted Rand Index</a:t>
            </a:r>
            <a:r>
              <a:rPr b="1" lang="tr" sz="2622"/>
              <a:t>) ve Gerçek Sınıflandırma</a:t>
            </a:r>
            <a:endParaRPr b="1" sz="2622"/>
          </a:p>
        </p:txBody>
      </p:sp>
      <p:sp>
        <p:nvSpPr>
          <p:cNvPr id="372" name="Google Shape;372;p39"/>
          <p:cNvSpPr txBox="1"/>
          <p:nvPr>
            <p:ph idx="1" type="body"/>
          </p:nvPr>
        </p:nvSpPr>
        <p:spPr>
          <a:xfrm>
            <a:off x="7554275" y="1610650"/>
            <a:ext cx="1531200" cy="280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a:t> </a:t>
            </a:r>
            <a:r>
              <a:rPr i="1" lang="tr"/>
              <a:t>ARI= 0.153</a:t>
            </a:r>
            <a:r>
              <a:rPr lang="tr"/>
              <a:t> ne anlama gelmektedir?</a:t>
            </a:r>
            <a:endParaRPr/>
          </a:p>
          <a:p>
            <a:pPr indent="0" lvl="0" marL="0" rtl="0" algn="l">
              <a:spcBef>
                <a:spcPts val="1200"/>
              </a:spcBef>
              <a:spcAft>
                <a:spcPts val="1200"/>
              </a:spcAft>
              <a:buNone/>
            </a:pPr>
            <a:r>
              <a:rPr b="1" lang="tr"/>
              <a:t>"Timsahların boyuna ve kilosuna bakarak yaşlarını tahmin etmek çok zordur."</a:t>
            </a:r>
            <a:endParaRPr b="1"/>
          </a:p>
        </p:txBody>
      </p:sp>
      <p:pic>
        <p:nvPicPr>
          <p:cNvPr id="373" name="Google Shape;373;p39" title="Code_Generated_Image (4).png"/>
          <p:cNvPicPr preferRelativeResize="0"/>
          <p:nvPr/>
        </p:nvPicPr>
        <p:blipFill>
          <a:blip r:embed="rId3">
            <a:alphaModFix/>
          </a:blip>
          <a:stretch>
            <a:fillRect/>
          </a:stretch>
        </p:blipFill>
        <p:spPr>
          <a:xfrm>
            <a:off x="0" y="1610650"/>
            <a:ext cx="7491452" cy="2809301"/>
          </a:xfrm>
          <a:prstGeom prst="rect">
            <a:avLst/>
          </a:prstGeom>
          <a:noFill/>
          <a:ln>
            <a:noFill/>
          </a:ln>
        </p:spPr>
      </p:pic>
      <p:sp>
        <p:nvSpPr>
          <p:cNvPr id="374" name="Google Shape;374;p39"/>
          <p:cNvSpPr txBox="1"/>
          <p:nvPr/>
        </p:nvSpPr>
        <p:spPr>
          <a:xfrm>
            <a:off x="243450" y="4419950"/>
            <a:ext cx="7248000" cy="72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tr" sz="1100">
                <a:solidFill>
                  <a:schemeClr val="lt1"/>
                </a:solidFill>
              </a:rPr>
              <a:t>Adult (Yetişkin):</a:t>
            </a:r>
            <a:r>
              <a:rPr lang="tr" sz="1100">
                <a:solidFill>
                  <a:schemeClr val="lt1"/>
                </a:solidFill>
              </a:rPr>
              <a:t> 510 adet (%51.0), </a:t>
            </a:r>
            <a:r>
              <a:rPr b="1" lang="tr" sz="1100">
                <a:solidFill>
                  <a:schemeClr val="lt1"/>
                </a:solidFill>
              </a:rPr>
              <a:t>Subadult (Yarı Yetişkin):</a:t>
            </a:r>
            <a:r>
              <a:rPr lang="tr" sz="1100">
                <a:solidFill>
                  <a:schemeClr val="lt1"/>
                </a:solidFill>
              </a:rPr>
              <a:t> 247 adet (%24.7)</a:t>
            </a:r>
            <a:endParaRPr sz="1100">
              <a:solidFill>
                <a:schemeClr val="lt1"/>
              </a:solidFill>
            </a:endParaRPr>
          </a:p>
          <a:p>
            <a:pPr indent="0" lvl="0" marL="0" rtl="0" algn="l">
              <a:lnSpc>
                <a:spcPct val="115000"/>
              </a:lnSpc>
              <a:spcBef>
                <a:spcPts val="1200"/>
              </a:spcBef>
              <a:spcAft>
                <a:spcPts val="0"/>
              </a:spcAft>
              <a:buNone/>
            </a:pPr>
            <a:r>
              <a:rPr b="1" lang="tr" sz="1100">
                <a:solidFill>
                  <a:schemeClr val="lt1"/>
                </a:solidFill>
              </a:rPr>
              <a:t>        Juvenile (Genç):</a:t>
            </a:r>
            <a:r>
              <a:rPr lang="tr" sz="1100">
                <a:solidFill>
                  <a:schemeClr val="lt1"/>
                </a:solidFill>
              </a:rPr>
              <a:t> 194 adet (%19.4), </a:t>
            </a:r>
            <a:r>
              <a:rPr b="1" lang="tr" sz="1100">
                <a:solidFill>
                  <a:schemeClr val="lt1"/>
                </a:solidFill>
              </a:rPr>
              <a:t>Hatchling (Yavru):</a:t>
            </a:r>
            <a:r>
              <a:rPr lang="tr" sz="1100">
                <a:solidFill>
                  <a:schemeClr val="lt1"/>
                </a:solidFill>
              </a:rPr>
              <a:t> 49 adet (%4.9)                      </a:t>
            </a:r>
            <a:r>
              <a:rPr b="1" i="1" lang="tr" sz="1100">
                <a:solidFill>
                  <a:schemeClr val="lt1"/>
                </a:solidFill>
              </a:rPr>
              <a:t>Toplam Gözlem= 1000</a:t>
            </a:r>
            <a:endParaRPr b="1" i="1" sz="1100">
              <a:solidFill>
                <a:schemeClr val="lt1"/>
              </a:solidFill>
            </a:endParaRPr>
          </a:p>
          <a:p>
            <a:pPr indent="0" lvl="0" marL="0" rtl="0" algn="l">
              <a:lnSpc>
                <a:spcPct val="115000"/>
              </a:lnSpc>
              <a:spcBef>
                <a:spcPts val="1200"/>
              </a:spcBef>
              <a:spcAft>
                <a:spcPts val="1200"/>
              </a:spcAft>
              <a:buNone/>
            </a:pPr>
            <a:r>
              <a:t/>
            </a:r>
            <a:endParaRPr sz="1100">
              <a:solidFill>
                <a:schemeClr val="lt1"/>
              </a:solidFill>
            </a:endParaRPr>
          </a:p>
        </p:txBody>
      </p:sp>
      <p:pic>
        <p:nvPicPr>
          <p:cNvPr id="375" name="Google Shape;375;p39"/>
          <p:cNvPicPr preferRelativeResize="0"/>
          <p:nvPr/>
        </p:nvPicPr>
        <p:blipFill>
          <a:blip r:embed="rId4">
            <a:alphaModFix/>
          </a:blip>
          <a:stretch>
            <a:fillRect/>
          </a:stretch>
        </p:blipFill>
        <p:spPr>
          <a:xfrm>
            <a:off x="400197" y="1887325"/>
            <a:ext cx="1124250" cy="4606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a:t>KAYNAKÇA</a:t>
            </a:r>
            <a:endParaRPr/>
          </a:p>
        </p:txBody>
      </p:sp>
      <p:sp>
        <p:nvSpPr>
          <p:cNvPr id="381" name="Google Shape;381;p40"/>
          <p:cNvSpPr txBox="1"/>
          <p:nvPr>
            <p:ph idx="1" type="body"/>
          </p:nvPr>
        </p:nvSpPr>
        <p:spPr>
          <a:xfrm>
            <a:off x="1297500" y="1567550"/>
            <a:ext cx="7038900" cy="22425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Font typeface="Arial"/>
              <a:buChar char="●"/>
            </a:pPr>
            <a:r>
              <a:rPr lang="tr" sz="1200" u="sng">
                <a:latin typeface="Arial"/>
                <a:ea typeface="Arial"/>
                <a:cs typeface="Arial"/>
                <a:sym typeface="Arial"/>
                <a:hlinkClick r:id="rId3"/>
              </a:rPr>
              <a:t>clustering_english_edition1_amazon</a:t>
            </a:r>
            <a:endParaRPr sz="1400"/>
          </a:p>
          <a:p>
            <a:pPr indent="-304800" lvl="0" marL="457200" rtl="0" algn="l">
              <a:lnSpc>
                <a:spcPct val="122222"/>
              </a:lnSpc>
              <a:spcBef>
                <a:spcPts val="0"/>
              </a:spcBef>
              <a:spcAft>
                <a:spcPts val="0"/>
              </a:spcAft>
              <a:buSzPts val="1200"/>
              <a:buFont typeface="Arial"/>
              <a:buChar char="●"/>
            </a:pPr>
            <a:r>
              <a:rPr lang="tr" sz="1200">
                <a:latin typeface="Arial"/>
                <a:ea typeface="Arial"/>
                <a:cs typeface="Arial"/>
                <a:sym typeface="Arial"/>
              </a:rPr>
              <a:t>Clustering unveiled: The Intersection of Data Mining, Unsupervised Learning, and Machine Learning(kaggle).</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tr" sz="1200">
                <a:highlight>
                  <a:schemeClr val="dk1"/>
                </a:highlight>
                <a:latin typeface="Arial"/>
                <a:ea typeface="Arial"/>
                <a:cs typeface="Arial"/>
                <a:sym typeface="Arial"/>
              </a:rPr>
              <a:t>Cluster Validation Statistics: Must Know Methods(datanovia).</a:t>
            </a:r>
            <a:endParaRPr sz="1200">
              <a:highlight>
                <a:schemeClr val="dk1"/>
              </a:highlight>
              <a:latin typeface="Arial"/>
              <a:ea typeface="Arial"/>
              <a:cs typeface="Arial"/>
              <a:sym typeface="Arial"/>
            </a:endParaRPr>
          </a:p>
          <a:p>
            <a:pPr indent="-304800" lvl="0" marL="457200" rtl="0" algn="l">
              <a:spcBef>
                <a:spcPts val="0"/>
              </a:spcBef>
              <a:spcAft>
                <a:spcPts val="0"/>
              </a:spcAft>
              <a:buSzPts val="1200"/>
              <a:buFont typeface="Arial"/>
              <a:buChar char="●"/>
            </a:pPr>
            <a:r>
              <a:rPr lang="tr" sz="1200" u="sng">
                <a:solidFill>
                  <a:schemeClr val="hlink"/>
                </a:solidFill>
                <a:highlight>
                  <a:schemeClr val="dk1"/>
                </a:highlight>
                <a:latin typeface="Arial"/>
                <a:ea typeface="Arial"/>
                <a:cs typeface="Arial"/>
                <a:sym typeface="Arial"/>
                <a:hlinkClick r:id="rId4"/>
              </a:rPr>
              <a:t>https://hastie.su.domains/Papers/gap.pdf</a:t>
            </a:r>
            <a:endParaRPr sz="1200">
              <a:highlight>
                <a:schemeClr val="dk1"/>
              </a:highlight>
              <a:latin typeface="Arial"/>
              <a:ea typeface="Arial"/>
              <a:cs typeface="Arial"/>
              <a:sym typeface="Arial"/>
            </a:endParaRPr>
          </a:p>
          <a:p>
            <a:pPr indent="-311150" lvl="0" marL="457200" rtl="0" algn="l">
              <a:spcBef>
                <a:spcPts val="0"/>
              </a:spcBef>
              <a:spcAft>
                <a:spcPts val="0"/>
              </a:spcAft>
              <a:buSzPts val="1300"/>
              <a:buFont typeface="Arial"/>
              <a:buChar char="●"/>
            </a:pPr>
            <a:r>
              <a:rPr lang="tr" sz="1200" u="sng">
                <a:solidFill>
                  <a:schemeClr val="hlink"/>
                </a:solidFill>
                <a:latin typeface="Arial"/>
                <a:ea typeface="Arial"/>
                <a:cs typeface="Arial"/>
                <a:sym typeface="Arial"/>
                <a:hlinkClick r:id="rId5"/>
              </a:rPr>
              <a:t>Calinski-Harabasz Index for K-Means Clustering Evaluation using Python | Towards Data Science</a:t>
            </a:r>
            <a:endParaRPr sz="1200">
              <a:highlight>
                <a:schemeClr val="dk1"/>
              </a:highlight>
              <a:latin typeface="Arial"/>
              <a:ea typeface="Arial"/>
              <a:cs typeface="Arial"/>
              <a:sym typeface="Arial"/>
            </a:endParaRPr>
          </a:p>
          <a:p>
            <a:pPr indent="-304800" lvl="0" marL="457200" rtl="0" algn="l">
              <a:spcBef>
                <a:spcPts val="0"/>
              </a:spcBef>
              <a:spcAft>
                <a:spcPts val="0"/>
              </a:spcAft>
              <a:buSzPts val="1200"/>
              <a:buFont typeface="Arial"/>
              <a:buChar char="●"/>
            </a:pPr>
            <a:r>
              <a:rPr lang="tr" sz="1100" u="sng">
                <a:solidFill>
                  <a:schemeClr val="hlink"/>
                </a:solidFill>
                <a:latin typeface="Arial"/>
                <a:ea typeface="Arial"/>
                <a:cs typeface="Arial"/>
                <a:sym typeface="Arial"/>
                <a:hlinkClick r:id="rId6"/>
              </a:rPr>
              <a:t>Calinski-Harabasz Index for K-Means Clustering Evaluation using Python | Towards Data Science</a:t>
            </a:r>
            <a:endParaRPr sz="1200">
              <a:highlight>
                <a:schemeClr val="dk1"/>
              </a:highlight>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